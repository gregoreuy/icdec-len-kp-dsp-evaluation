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1" r:id="rId4"/>
    <p:sldId id="258" r:id="rId5"/>
    <p:sldId id="272" r:id="rId6"/>
    <p:sldId id="259" r:id="rId7"/>
    <p:sldId id="260" r:id="rId8"/>
    <p:sldId id="278" r:id="rId9"/>
    <p:sldId id="261" r:id="rId10"/>
    <p:sldId id="279" r:id="rId11"/>
    <p:sldId id="264" r:id="rId12"/>
    <p:sldId id="265" r:id="rId13"/>
    <p:sldId id="273" r:id="rId14"/>
    <p:sldId id="262" r:id="rId15"/>
    <p:sldId id="274" r:id="rId16"/>
    <p:sldId id="275" r:id="rId17"/>
    <p:sldId id="276" r:id="rId18"/>
    <p:sldId id="267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1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lang="it-IT" sz="1400" b="0" i="0" u="none" strike="noStrike">
                <a:solidFill>
                  <a:srgbClr val="21295C"/>
                </a:solidFill>
                <a:latin typeface="Cambria"/>
              </a:rPr>
              <a:t>Durasi Inferensi per Slice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Durasi rata-rata (ms)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562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DB47-4D9A-A5B3-527A60A55AA9}"/>
              </c:ext>
            </c:extLst>
          </c:dPt>
          <c:dPt>
            <c:idx val="3"/>
            <c:invertIfNegative val="0"/>
            <c:bubble3D val="0"/>
            <c:spPr>
              <a:solidFill>
                <a:srgbClr val="562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47-4D9A-A5B3-527A60A55A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95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Window
-O0</c:v>
                </c:pt>
                <c:pt idx="1">
                  <c:v>Window
-O2</c:v>
                </c:pt>
                <c:pt idx="2">
                  <c:v>Continuous
(while-loop)</c:v>
                </c:pt>
                <c:pt idx="3">
                  <c:v>Continuous
+ ThreadX -O0</c:v>
                </c:pt>
                <c:pt idx="4">
                  <c:v>Continuous ThreadX -O2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460</c:v>
                </c:pt>
                <c:pt idx="1">
                  <c:v>185</c:v>
                </c:pt>
                <c:pt idx="2">
                  <c:v>80</c:v>
                </c:pt>
                <c:pt idx="3">
                  <c:v>30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B7-4FE9-8A95-5E5878CF87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D" sz="1100" b="0" i="0" u="none" strike="noStrike">
                    <a:solidFill>
                      <a:srgbClr val="6B7280"/>
                    </a:solidFill>
                    <a:latin typeface="Arial"/>
                  </a:rPr>
                  <a:t>milidetik (ms)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DAB83D-D4F3-4511-9961-E0C4B90A4BE4}" type="doc">
      <dgm:prSet loTypeId="urn:microsoft.com/office/officeart/2005/8/layout/process1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ID"/>
        </a:p>
      </dgm:t>
    </dgm:pt>
    <dgm:pt modelId="{B2AF4C5C-934D-405D-965C-D7A9728A9014}">
      <dgm:prSet phldrT="[Text]" custT="1"/>
      <dgm:spPr/>
      <dgm:t>
        <a:bodyPr/>
        <a:lstStyle/>
        <a:p>
          <a:pPr>
            <a:buNone/>
          </a:pPr>
          <a:r>
            <a:rPr lang="en-ID" sz="1400" dirty="0">
              <a:latin typeface="Cambria" panose="02040503050406030204" pitchFamily="18" charset="0"/>
              <a:ea typeface="Cambria" panose="02040503050406030204" pitchFamily="18" charset="0"/>
            </a:rPr>
            <a:t>Mic INMP441</a:t>
          </a:r>
        </a:p>
      </dgm:t>
    </dgm:pt>
    <dgm:pt modelId="{618E9A7B-AA36-430B-B22B-1389DC4AFACF}" type="parTrans" cxnId="{2E30CDE4-422B-4423-8113-744416CF390C}">
      <dgm:prSet/>
      <dgm:spPr/>
      <dgm:t>
        <a:bodyPr/>
        <a:lstStyle/>
        <a:p>
          <a:endParaRPr lang="en-ID"/>
        </a:p>
      </dgm:t>
    </dgm:pt>
    <dgm:pt modelId="{DD1DEA5C-0FE3-44E5-AAA9-B0E098038F36}" type="sibTrans" cxnId="{2E30CDE4-422B-4423-8113-744416CF390C}">
      <dgm:prSet/>
      <dgm:spPr/>
      <dgm:t>
        <a:bodyPr/>
        <a:lstStyle/>
        <a:p>
          <a:endParaRPr lang="en-ID"/>
        </a:p>
      </dgm:t>
    </dgm:pt>
    <dgm:pt modelId="{041D2B24-D311-40B5-AA04-5AA7A5564A70}">
      <dgm:prSet phldrT="[Text]"/>
      <dgm:spPr/>
      <dgm:t>
        <a:bodyPr/>
        <a:lstStyle/>
        <a:p>
          <a:pPr>
            <a:buNone/>
          </a:pPr>
          <a:r>
            <a:rPr lang="en-ID" dirty="0"/>
            <a:t>SAI1 (I2S)</a:t>
          </a:r>
        </a:p>
      </dgm:t>
    </dgm:pt>
    <dgm:pt modelId="{D7F83375-4E5A-4218-9F6B-5900F4A84814}" type="parTrans" cxnId="{D2CFA9B9-A190-4DA0-8722-2C06D9210ACE}">
      <dgm:prSet/>
      <dgm:spPr/>
      <dgm:t>
        <a:bodyPr/>
        <a:lstStyle/>
        <a:p>
          <a:endParaRPr lang="en-ID"/>
        </a:p>
      </dgm:t>
    </dgm:pt>
    <dgm:pt modelId="{B51627F8-57A4-4A08-AACF-6B9AA5557804}" type="sibTrans" cxnId="{D2CFA9B9-A190-4DA0-8722-2C06D9210ACE}">
      <dgm:prSet/>
      <dgm:spPr/>
      <dgm:t>
        <a:bodyPr/>
        <a:lstStyle/>
        <a:p>
          <a:endParaRPr lang="en-ID"/>
        </a:p>
      </dgm:t>
    </dgm:pt>
    <dgm:pt modelId="{6C1FA309-A0F6-4443-9FDB-6AAA52B0B1AE}">
      <dgm:prSet phldrT="[Text]"/>
      <dgm:spPr/>
      <dgm:t>
        <a:bodyPr/>
        <a:lstStyle/>
        <a:p>
          <a:pPr>
            <a:buNone/>
          </a:pPr>
          <a:r>
            <a:rPr lang="en-ID" dirty="0"/>
            <a:t>GPDMA1 </a:t>
          </a:r>
        </a:p>
      </dgm:t>
    </dgm:pt>
    <dgm:pt modelId="{772FF539-808A-4225-8A75-3F79466DE65A}" type="parTrans" cxnId="{DF07CD61-9B9D-4012-9FDF-0246B526A86C}">
      <dgm:prSet/>
      <dgm:spPr/>
      <dgm:t>
        <a:bodyPr/>
        <a:lstStyle/>
        <a:p>
          <a:endParaRPr lang="en-ID"/>
        </a:p>
      </dgm:t>
    </dgm:pt>
    <dgm:pt modelId="{71AFD132-C00A-4599-80A6-0965D38FC6CB}" type="sibTrans" cxnId="{DF07CD61-9B9D-4012-9FDF-0246B526A86C}">
      <dgm:prSet/>
      <dgm:spPr/>
      <dgm:t>
        <a:bodyPr/>
        <a:lstStyle/>
        <a:p>
          <a:endParaRPr lang="en-ID"/>
        </a:p>
      </dgm:t>
    </dgm:pt>
    <dgm:pt modelId="{888373E8-CC08-4A46-B7F5-B7F56B39B6F1}">
      <dgm:prSet phldrT="[Text]"/>
      <dgm:spPr/>
      <dgm:t>
        <a:bodyPr/>
        <a:lstStyle/>
        <a:p>
          <a:pPr>
            <a:buNone/>
          </a:pPr>
          <a:r>
            <a:rPr lang="en-ID" dirty="0"/>
            <a:t>Double Buffer</a:t>
          </a:r>
        </a:p>
      </dgm:t>
    </dgm:pt>
    <dgm:pt modelId="{E6B92116-AF4D-411E-B67A-0BB791489D05}" type="parTrans" cxnId="{2B4B1EA7-E72A-4B53-B661-379C6E0C932B}">
      <dgm:prSet/>
      <dgm:spPr/>
      <dgm:t>
        <a:bodyPr/>
        <a:lstStyle/>
        <a:p>
          <a:endParaRPr lang="en-ID"/>
        </a:p>
      </dgm:t>
    </dgm:pt>
    <dgm:pt modelId="{6A387F10-BCB7-4981-9AD3-AC867EA3F980}" type="sibTrans" cxnId="{2B4B1EA7-E72A-4B53-B661-379C6E0C932B}">
      <dgm:prSet/>
      <dgm:spPr/>
      <dgm:t>
        <a:bodyPr/>
        <a:lstStyle/>
        <a:p>
          <a:endParaRPr lang="en-ID"/>
        </a:p>
      </dgm:t>
    </dgm:pt>
    <dgm:pt modelId="{8B596405-C531-4230-9CF0-140D00E867B9}">
      <dgm:prSet phldrT="[Text]"/>
      <dgm:spPr/>
      <dgm:t>
        <a:bodyPr/>
        <a:lstStyle/>
        <a:p>
          <a:pPr>
            <a:buNone/>
          </a:pPr>
          <a:r>
            <a:rPr lang="en-ID" dirty="0"/>
            <a:t>DSP (MFCC)</a:t>
          </a:r>
        </a:p>
      </dgm:t>
    </dgm:pt>
    <dgm:pt modelId="{F66C2C05-71CF-42F7-AE15-71508B7E041A}" type="parTrans" cxnId="{BB08223C-7843-431F-A96D-657668BC6DA1}">
      <dgm:prSet/>
      <dgm:spPr/>
      <dgm:t>
        <a:bodyPr/>
        <a:lstStyle/>
        <a:p>
          <a:endParaRPr lang="en-ID"/>
        </a:p>
      </dgm:t>
    </dgm:pt>
    <dgm:pt modelId="{2B2D1EC9-53ED-4754-9A10-98DCC3441097}" type="sibTrans" cxnId="{BB08223C-7843-431F-A96D-657668BC6DA1}">
      <dgm:prSet/>
      <dgm:spPr/>
      <dgm:t>
        <a:bodyPr/>
        <a:lstStyle/>
        <a:p>
          <a:endParaRPr lang="en-ID"/>
        </a:p>
      </dgm:t>
    </dgm:pt>
    <dgm:pt modelId="{FF6C1A8F-3BDB-443A-9F5B-BD0C6FDB2B67}">
      <dgm:prSet phldrT="[Text]"/>
      <dgm:spPr/>
      <dgm:t>
        <a:bodyPr/>
        <a:lstStyle/>
        <a:p>
          <a:pPr>
            <a:buNone/>
          </a:pPr>
          <a:r>
            <a:rPr lang="en-ID" dirty="0"/>
            <a:t>NN (CNN)</a:t>
          </a:r>
        </a:p>
      </dgm:t>
    </dgm:pt>
    <dgm:pt modelId="{7AC3CB0F-FCBD-4133-B078-D5FD55E7D853}" type="parTrans" cxnId="{DAC750AB-5048-4664-9CCC-A2CA7EFE4476}">
      <dgm:prSet/>
      <dgm:spPr/>
      <dgm:t>
        <a:bodyPr/>
        <a:lstStyle/>
        <a:p>
          <a:endParaRPr lang="en-ID"/>
        </a:p>
      </dgm:t>
    </dgm:pt>
    <dgm:pt modelId="{BE10EF1B-AF99-412F-97C3-FF73E562283A}" type="sibTrans" cxnId="{DAC750AB-5048-4664-9CCC-A2CA7EFE4476}">
      <dgm:prSet/>
      <dgm:spPr/>
      <dgm:t>
        <a:bodyPr/>
        <a:lstStyle/>
        <a:p>
          <a:endParaRPr lang="en-ID"/>
        </a:p>
      </dgm:t>
    </dgm:pt>
    <dgm:pt modelId="{CB914E02-9264-4C8D-9956-21F9F31ECE78}">
      <dgm:prSet phldrT="[Text]"/>
      <dgm:spPr/>
      <dgm:t>
        <a:bodyPr/>
        <a:lstStyle/>
        <a:p>
          <a:pPr>
            <a:buNone/>
          </a:pPr>
          <a:r>
            <a:rPr lang="en-ID" dirty="0"/>
            <a:t>LED/Display</a:t>
          </a:r>
        </a:p>
      </dgm:t>
    </dgm:pt>
    <dgm:pt modelId="{5101EF5B-DA61-47A3-881E-0C3AB82290BE}" type="parTrans" cxnId="{5B0B2CC6-D088-4BA6-9B45-2C98E4442330}">
      <dgm:prSet/>
      <dgm:spPr/>
      <dgm:t>
        <a:bodyPr/>
        <a:lstStyle/>
        <a:p>
          <a:endParaRPr lang="en-ID"/>
        </a:p>
      </dgm:t>
    </dgm:pt>
    <dgm:pt modelId="{FDB785F5-EDD5-4D18-9722-DBAAC9088B43}" type="sibTrans" cxnId="{5B0B2CC6-D088-4BA6-9B45-2C98E4442330}">
      <dgm:prSet/>
      <dgm:spPr/>
      <dgm:t>
        <a:bodyPr/>
        <a:lstStyle/>
        <a:p>
          <a:endParaRPr lang="en-ID"/>
        </a:p>
      </dgm:t>
    </dgm:pt>
    <dgm:pt modelId="{BBDD326B-0E35-44A8-9100-EF2D6889D5E2}">
      <dgm:prSet phldrT="[Text]" phldr="0"/>
      <dgm:spPr/>
      <dgm:t>
        <a:bodyPr/>
        <a:lstStyle/>
        <a:p>
          <a:r>
            <a:rPr lang="en-US" dirty="0"/>
            <a:t>VAD</a:t>
          </a:r>
          <a:endParaRPr lang="en-ID" dirty="0"/>
        </a:p>
      </dgm:t>
    </dgm:pt>
    <dgm:pt modelId="{4D414EBB-C983-470D-B440-D20F693AAF66}" type="parTrans" cxnId="{00C72149-A2F9-40CB-8E23-00A347FE57A5}">
      <dgm:prSet/>
      <dgm:spPr/>
      <dgm:t>
        <a:bodyPr/>
        <a:lstStyle/>
        <a:p>
          <a:endParaRPr lang="en-ID"/>
        </a:p>
      </dgm:t>
    </dgm:pt>
    <dgm:pt modelId="{7015F25B-693A-4773-8C81-1C22C216DEE1}" type="sibTrans" cxnId="{00C72149-A2F9-40CB-8E23-00A347FE57A5}">
      <dgm:prSet/>
      <dgm:spPr/>
      <dgm:t>
        <a:bodyPr/>
        <a:lstStyle/>
        <a:p>
          <a:endParaRPr lang="en-ID"/>
        </a:p>
      </dgm:t>
    </dgm:pt>
    <dgm:pt modelId="{B1D593B9-A8F6-402A-883D-4D5429FC3090}" type="pres">
      <dgm:prSet presAssocID="{75DAB83D-D4F3-4511-9961-E0C4B90A4BE4}" presName="Name0" presStyleCnt="0">
        <dgm:presLayoutVars>
          <dgm:dir/>
          <dgm:resizeHandles val="exact"/>
        </dgm:presLayoutVars>
      </dgm:prSet>
      <dgm:spPr/>
    </dgm:pt>
    <dgm:pt modelId="{81A3EEA6-4D3A-4BF7-AEDF-61D8246E8C5E}" type="pres">
      <dgm:prSet presAssocID="{B2AF4C5C-934D-405D-965C-D7A9728A9014}" presName="node" presStyleLbl="node1" presStyleIdx="0" presStyleCnt="8" custLinFactNeighborX="-923">
        <dgm:presLayoutVars>
          <dgm:bulletEnabled val="1"/>
        </dgm:presLayoutVars>
      </dgm:prSet>
      <dgm:spPr/>
    </dgm:pt>
    <dgm:pt modelId="{676D5346-94A6-44B7-BC57-F87058582217}" type="pres">
      <dgm:prSet presAssocID="{DD1DEA5C-0FE3-44E5-AAA9-B0E098038F36}" presName="sibTrans" presStyleLbl="sibTrans2D1" presStyleIdx="0" presStyleCnt="7"/>
      <dgm:spPr/>
    </dgm:pt>
    <dgm:pt modelId="{2AD1E736-D1C7-4A4E-876A-AF1162E93712}" type="pres">
      <dgm:prSet presAssocID="{DD1DEA5C-0FE3-44E5-AAA9-B0E098038F36}" presName="connectorText" presStyleLbl="sibTrans2D1" presStyleIdx="0" presStyleCnt="7"/>
      <dgm:spPr/>
    </dgm:pt>
    <dgm:pt modelId="{C1AA6B47-0176-4456-A19E-38DBB458B7DE}" type="pres">
      <dgm:prSet presAssocID="{041D2B24-D311-40B5-AA04-5AA7A5564A70}" presName="node" presStyleLbl="node1" presStyleIdx="1" presStyleCnt="8" custLinFactNeighborX="-923">
        <dgm:presLayoutVars>
          <dgm:bulletEnabled val="1"/>
        </dgm:presLayoutVars>
      </dgm:prSet>
      <dgm:spPr/>
    </dgm:pt>
    <dgm:pt modelId="{4D235C8D-7BA3-4570-896B-B51CC5D3359E}" type="pres">
      <dgm:prSet presAssocID="{B51627F8-57A4-4A08-AACF-6B9AA5557804}" presName="sibTrans" presStyleLbl="sibTrans2D1" presStyleIdx="1" presStyleCnt="7"/>
      <dgm:spPr/>
    </dgm:pt>
    <dgm:pt modelId="{E41B5CF8-A7D4-4394-BF2A-AA56A4215C0C}" type="pres">
      <dgm:prSet presAssocID="{B51627F8-57A4-4A08-AACF-6B9AA5557804}" presName="connectorText" presStyleLbl="sibTrans2D1" presStyleIdx="1" presStyleCnt="7"/>
      <dgm:spPr/>
    </dgm:pt>
    <dgm:pt modelId="{BAEA486F-019D-4CFA-B139-5BB8C5BC1A5D}" type="pres">
      <dgm:prSet presAssocID="{6C1FA309-A0F6-4443-9FDB-6AAA52B0B1AE}" presName="node" presStyleLbl="node1" presStyleIdx="2" presStyleCnt="8" custLinFactNeighborX="-923">
        <dgm:presLayoutVars>
          <dgm:bulletEnabled val="1"/>
        </dgm:presLayoutVars>
      </dgm:prSet>
      <dgm:spPr/>
    </dgm:pt>
    <dgm:pt modelId="{15E75A72-CB73-47B5-9F90-3CB220F10B91}" type="pres">
      <dgm:prSet presAssocID="{71AFD132-C00A-4599-80A6-0965D38FC6CB}" presName="sibTrans" presStyleLbl="sibTrans2D1" presStyleIdx="2" presStyleCnt="7"/>
      <dgm:spPr/>
    </dgm:pt>
    <dgm:pt modelId="{00D5539C-9423-4DD3-85B4-131362EFFB76}" type="pres">
      <dgm:prSet presAssocID="{71AFD132-C00A-4599-80A6-0965D38FC6CB}" presName="connectorText" presStyleLbl="sibTrans2D1" presStyleIdx="2" presStyleCnt="7"/>
      <dgm:spPr/>
    </dgm:pt>
    <dgm:pt modelId="{CA79E3BD-4537-4331-8888-9CA8A3A37483}" type="pres">
      <dgm:prSet presAssocID="{888373E8-CC08-4A46-B7F5-B7F56B39B6F1}" presName="node" presStyleLbl="node1" presStyleIdx="3" presStyleCnt="8">
        <dgm:presLayoutVars>
          <dgm:bulletEnabled val="1"/>
        </dgm:presLayoutVars>
      </dgm:prSet>
      <dgm:spPr/>
    </dgm:pt>
    <dgm:pt modelId="{DD5B9BAB-3A4B-4FDD-A387-D39F4F3B3A20}" type="pres">
      <dgm:prSet presAssocID="{6A387F10-BCB7-4981-9AD3-AC867EA3F980}" presName="sibTrans" presStyleLbl="sibTrans2D1" presStyleIdx="3" presStyleCnt="7"/>
      <dgm:spPr/>
    </dgm:pt>
    <dgm:pt modelId="{8C3005B3-0EAA-4E3B-AF14-0117572139DE}" type="pres">
      <dgm:prSet presAssocID="{6A387F10-BCB7-4981-9AD3-AC867EA3F980}" presName="connectorText" presStyleLbl="sibTrans2D1" presStyleIdx="3" presStyleCnt="7"/>
      <dgm:spPr/>
    </dgm:pt>
    <dgm:pt modelId="{0C15509E-FA71-48AE-8040-83C12FAE2442}" type="pres">
      <dgm:prSet presAssocID="{BBDD326B-0E35-44A8-9100-EF2D6889D5E2}" presName="node" presStyleLbl="node1" presStyleIdx="4" presStyleCnt="8">
        <dgm:presLayoutVars>
          <dgm:bulletEnabled val="1"/>
        </dgm:presLayoutVars>
      </dgm:prSet>
      <dgm:spPr/>
    </dgm:pt>
    <dgm:pt modelId="{FC6FF49C-1346-417D-98E2-5D0655DA368B}" type="pres">
      <dgm:prSet presAssocID="{7015F25B-693A-4773-8C81-1C22C216DEE1}" presName="sibTrans" presStyleLbl="sibTrans2D1" presStyleIdx="4" presStyleCnt="7"/>
      <dgm:spPr/>
    </dgm:pt>
    <dgm:pt modelId="{84E2EB78-168B-4862-9916-33B80E8CEEDC}" type="pres">
      <dgm:prSet presAssocID="{7015F25B-693A-4773-8C81-1C22C216DEE1}" presName="connectorText" presStyleLbl="sibTrans2D1" presStyleIdx="4" presStyleCnt="7"/>
      <dgm:spPr/>
    </dgm:pt>
    <dgm:pt modelId="{2BED2916-3761-4216-B5F6-8943494D4D7B}" type="pres">
      <dgm:prSet presAssocID="{8B596405-C531-4230-9CF0-140D00E867B9}" presName="node" presStyleLbl="node1" presStyleIdx="5" presStyleCnt="8">
        <dgm:presLayoutVars>
          <dgm:bulletEnabled val="1"/>
        </dgm:presLayoutVars>
      </dgm:prSet>
      <dgm:spPr/>
    </dgm:pt>
    <dgm:pt modelId="{0D54ED9B-FBC5-4538-A55B-847FE4739ED3}" type="pres">
      <dgm:prSet presAssocID="{2B2D1EC9-53ED-4754-9A10-98DCC3441097}" presName="sibTrans" presStyleLbl="sibTrans2D1" presStyleIdx="5" presStyleCnt="7"/>
      <dgm:spPr/>
    </dgm:pt>
    <dgm:pt modelId="{C2537035-741A-4D02-A96C-49220E7E267F}" type="pres">
      <dgm:prSet presAssocID="{2B2D1EC9-53ED-4754-9A10-98DCC3441097}" presName="connectorText" presStyleLbl="sibTrans2D1" presStyleIdx="5" presStyleCnt="7"/>
      <dgm:spPr/>
    </dgm:pt>
    <dgm:pt modelId="{A57AFF26-3334-4375-AF21-B1E59E314FFC}" type="pres">
      <dgm:prSet presAssocID="{FF6C1A8F-3BDB-443A-9F5B-BD0C6FDB2B67}" presName="node" presStyleLbl="node1" presStyleIdx="6" presStyleCnt="8">
        <dgm:presLayoutVars>
          <dgm:bulletEnabled val="1"/>
        </dgm:presLayoutVars>
      </dgm:prSet>
      <dgm:spPr/>
    </dgm:pt>
    <dgm:pt modelId="{7ADD926C-3044-46C8-A40D-92DCE5536D2A}" type="pres">
      <dgm:prSet presAssocID="{BE10EF1B-AF99-412F-97C3-FF73E562283A}" presName="sibTrans" presStyleLbl="sibTrans2D1" presStyleIdx="6" presStyleCnt="7"/>
      <dgm:spPr/>
    </dgm:pt>
    <dgm:pt modelId="{480D46BA-FC6B-4C2B-8EF9-1FBFF62292E3}" type="pres">
      <dgm:prSet presAssocID="{BE10EF1B-AF99-412F-97C3-FF73E562283A}" presName="connectorText" presStyleLbl="sibTrans2D1" presStyleIdx="6" presStyleCnt="7"/>
      <dgm:spPr/>
    </dgm:pt>
    <dgm:pt modelId="{63DD384E-EC44-4534-AABD-ED57A6EE282C}" type="pres">
      <dgm:prSet presAssocID="{CB914E02-9264-4C8D-9956-21F9F31ECE78}" presName="node" presStyleLbl="node1" presStyleIdx="7" presStyleCnt="8">
        <dgm:presLayoutVars>
          <dgm:bulletEnabled val="1"/>
        </dgm:presLayoutVars>
      </dgm:prSet>
      <dgm:spPr/>
    </dgm:pt>
  </dgm:ptLst>
  <dgm:cxnLst>
    <dgm:cxn modelId="{4F2AD701-267B-4020-87E8-67D9765EA10F}" type="presOf" srcId="{BBDD326B-0E35-44A8-9100-EF2D6889D5E2}" destId="{0C15509E-FA71-48AE-8040-83C12FAE2442}" srcOrd="0" destOrd="0" presId="urn:microsoft.com/office/officeart/2005/8/layout/process1"/>
    <dgm:cxn modelId="{90DCC709-DB46-4E76-AFE6-610F2F784490}" type="presOf" srcId="{BE10EF1B-AF99-412F-97C3-FF73E562283A}" destId="{480D46BA-FC6B-4C2B-8EF9-1FBFF62292E3}" srcOrd="1" destOrd="0" presId="urn:microsoft.com/office/officeart/2005/8/layout/process1"/>
    <dgm:cxn modelId="{16A2E809-7950-4DB1-B6F3-2B268CC3223C}" type="presOf" srcId="{B2AF4C5C-934D-405D-965C-D7A9728A9014}" destId="{81A3EEA6-4D3A-4BF7-AEDF-61D8246E8C5E}" srcOrd="0" destOrd="0" presId="urn:microsoft.com/office/officeart/2005/8/layout/process1"/>
    <dgm:cxn modelId="{BDBDDF11-2E51-4360-BDCE-F05A20F81FEA}" type="presOf" srcId="{6C1FA309-A0F6-4443-9FDB-6AAA52B0B1AE}" destId="{BAEA486F-019D-4CFA-B139-5BB8C5BC1A5D}" srcOrd="0" destOrd="0" presId="urn:microsoft.com/office/officeart/2005/8/layout/process1"/>
    <dgm:cxn modelId="{5567C515-C5A6-4CCD-B8FF-2BB229B668FA}" type="presOf" srcId="{FF6C1A8F-3BDB-443A-9F5B-BD0C6FDB2B67}" destId="{A57AFF26-3334-4375-AF21-B1E59E314FFC}" srcOrd="0" destOrd="0" presId="urn:microsoft.com/office/officeart/2005/8/layout/process1"/>
    <dgm:cxn modelId="{8D75DD2C-FA51-456E-8534-928D7C2CE52A}" type="presOf" srcId="{888373E8-CC08-4A46-B7F5-B7F56B39B6F1}" destId="{CA79E3BD-4537-4331-8888-9CA8A3A37483}" srcOrd="0" destOrd="0" presId="urn:microsoft.com/office/officeart/2005/8/layout/process1"/>
    <dgm:cxn modelId="{BB08223C-7843-431F-A96D-657668BC6DA1}" srcId="{75DAB83D-D4F3-4511-9961-E0C4B90A4BE4}" destId="{8B596405-C531-4230-9CF0-140D00E867B9}" srcOrd="5" destOrd="0" parTransId="{F66C2C05-71CF-42F7-AE15-71508B7E041A}" sibTransId="{2B2D1EC9-53ED-4754-9A10-98DCC3441097}"/>
    <dgm:cxn modelId="{EE3B1261-526F-4951-9465-006B05B8FF71}" type="presOf" srcId="{6A387F10-BCB7-4981-9AD3-AC867EA3F980}" destId="{8C3005B3-0EAA-4E3B-AF14-0117572139DE}" srcOrd="1" destOrd="0" presId="urn:microsoft.com/office/officeart/2005/8/layout/process1"/>
    <dgm:cxn modelId="{DF07CD61-9B9D-4012-9FDF-0246B526A86C}" srcId="{75DAB83D-D4F3-4511-9961-E0C4B90A4BE4}" destId="{6C1FA309-A0F6-4443-9FDB-6AAA52B0B1AE}" srcOrd="2" destOrd="0" parTransId="{772FF539-808A-4225-8A75-3F79466DE65A}" sibTransId="{71AFD132-C00A-4599-80A6-0965D38FC6CB}"/>
    <dgm:cxn modelId="{DDF78543-4C3D-4E65-B99E-4A7F3C02C0BC}" type="presOf" srcId="{BE10EF1B-AF99-412F-97C3-FF73E562283A}" destId="{7ADD926C-3044-46C8-A40D-92DCE5536D2A}" srcOrd="0" destOrd="0" presId="urn:microsoft.com/office/officeart/2005/8/layout/process1"/>
    <dgm:cxn modelId="{CAF2A045-2B16-49E4-945D-DA40AB9E6890}" type="presOf" srcId="{CB914E02-9264-4C8D-9956-21F9F31ECE78}" destId="{63DD384E-EC44-4534-AABD-ED57A6EE282C}" srcOrd="0" destOrd="0" presId="urn:microsoft.com/office/officeart/2005/8/layout/process1"/>
    <dgm:cxn modelId="{F9E3A167-C832-48B8-BBD7-ADAC81D46F9C}" type="presOf" srcId="{DD1DEA5C-0FE3-44E5-AAA9-B0E098038F36}" destId="{676D5346-94A6-44B7-BC57-F87058582217}" srcOrd="0" destOrd="0" presId="urn:microsoft.com/office/officeart/2005/8/layout/process1"/>
    <dgm:cxn modelId="{1ED57068-FB01-4186-9C02-9EC67E51F601}" type="presOf" srcId="{041D2B24-D311-40B5-AA04-5AA7A5564A70}" destId="{C1AA6B47-0176-4456-A19E-38DBB458B7DE}" srcOrd="0" destOrd="0" presId="urn:microsoft.com/office/officeart/2005/8/layout/process1"/>
    <dgm:cxn modelId="{00C72149-A2F9-40CB-8E23-00A347FE57A5}" srcId="{75DAB83D-D4F3-4511-9961-E0C4B90A4BE4}" destId="{BBDD326B-0E35-44A8-9100-EF2D6889D5E2}" srcOrd="4" destOrd="0" parTransId="{4D414EBB-C983-470D-B440-D20F693AAF66}" sibTransId="{7015F25B-693A-4773-8C81-1C22C216DEE1}"/>
    <dgm:cxn modelId="{989F6F6E-7C5F-47D6-933A-CEA0ACA85D2C}" type="presOf" srcId="{8B596405-C531-4230-9CF0-140D00E867B9}" destId="{2BED2916-3761-4216-B5F6-8943494D4D7B}" srcOrd="0" destOrd="0" presId="urn:microsoft.com/office/officeart/2005/8/layout/process1"/>
    <dgm:cxn modelId="{20686794-59D2-46DB-9424-1F74A5A909A4}" type="presOf" srcId="{7015F25B-693A-4773-8C81-1C22C216DEE1}" destId="{84E2EB78-168B-4862-9916-33B80E8CEEDC}" srcOrd="1" destOrd="0" presId="urn:microsoft.com/office/officeart/2005/8/layout/process1"/>
    <dgm:cxn modelId="{517D739E-1598-4DC5-AC36-6DD499023B2B}" type="presOf" srcId="{6A387F10-BCB7-4981-9AD3-AC867EA3F980}" destId="{DD5B9BAB-3A4B-4FDD-A387-D39F4F3B3A20}" srcOrd="0" destOrd="0" presId="urn:microsoft.com/office/officeart/2005/8/layout/process1"/>
    <dgm:cxn modelId="{2B4B1EA7-E72A-4B53-B661-379C6E0C932B}" srcId="{75DAB83D-D4F3-4511-9961-E0C4B90A4BE4}" destId="{888373E8-CC08-4A46-B7F5-B7F56B39B6F1}" srcOrd="3" destOrd="0" parTransId="{E6B92116-AF4D-411E-B67A-0BB791489D05}" sibTransId="{6A387F10-BCB7-4981-9AD3-AC867EA3F980}"/>
    <dgm:cxn modelId="{530E3BAA-76F4-445E-A82B-100549161048}" type="presOf" srcId="{2B2D1EC9-53ED-4754-9A10-98DCC3441097}" destId="{0D54ED9B-FBC5-4538-A55B-847FE4739ED3}" srcOrd="0" destOrd="0" presId="urn:microsoft.com/office/officeart/2005/8/layout/process1"/>
    <dgm:cxn modelId="{DAC750AB-5048-4664-9CCC-A2CA7EFE4476}" srcId="{75DAB83D-D4F3-4511-9961-E0C4B90A4BE4}" destId="{FF6C1A8F-3BDB-443A-9F5B-BD0C6FDB2B67}" srcOrd="6" destOrd="0" parTransId="{7AC3CB0F-FCBD-4133-B078-D5FD55E7D853}" sibTransId="{BE10EF1B-AF99-412F-97C3-FF73E562283A}"/>
    <dgm:cxn modelId="{D2CFA9B9-A190-4DA0-8722-2C06D9210ACE}" srcId="{75DAB83D-D4F3-4511-9961-E0C4B90A4BE4}" destId="{041D2B24-D311-40B5-AA04-5AA7A5564A70}" srcOrd="1" destOrd="0" parTransId="{D7F83375-4E5A-4218-9F6B-5900F4A84814}" sibTransId="{B51627F8-57A4-4A08-AACF-6B9AA5557804}"/>
    <dgm:cxn modelId="{3EAC6CC1-39AD-4ECA-805C-412532B52C01}" type="presOf" srcId="{2B2D1EC9-53ED-4754-9A10-98DCC3441097}" destId="{C2537035-741A-4D02-A96C-49220E7E267F}" srcOrd="1" destOrd="0" presId="urn:microsoft.com/office/officeart/2005/8/layout/process1"/>
    <dgm:cxn modelId="{50FCB3C1-1BE3-4B3A-A0BC-6EEBF11AB5CF}" type="presOf" srcId="{B51627F8-57A4-4A08-AACF-6B9AA5557804}" destId="{E41B5CF8-A7D4-4394-BF2A-AA56A4215C0C}" srcOrd="1" destOrd="0" presId="urn:microsoft.com/office/officeart/2005/8/layout/process1"/>
    <dgm:cxn modelId="{5B0B2CC6-D088-4BA6-9B45-2C98E4442330}" srcId="{75DAB83D-D4F3-4511-9961-E0C4B90A4BE4}" destId="{CB914E02-9264-4C8D-9956-21F9F31ECE78}" srcOrd="7" destOrd="0" parTransId="{5101EF5B-DA61-47A3-881E-0C3AB82290BE}" sibTransId="{FDB785F5-EDD5-4D18-9722-DBAAC9088B43}"/>
    <dgm:cxn modelId="{500997C7-7B23-4485-8BEB-D55AB1B9CA4F}" type="presOf" srcId="{71AFD132-C00A-4599-80A6-0965D38FC6CB}" destId="{15E75A72-CB73-47B5-9F90-3CB220F10B91}" srcOrd="0" destOrd="0" presId="urn:microsoft.com/office/officeart/2005/8/layout/process1"/>
    <dgm:cxn modelId="{A36FEFCB-9FC3-4F1D-AC09-B45F4BB43D24}" type="presOf" srcId="{75DAB83D-D4F3-4511-9961-E0C4B90A4BE4}" destId="{B1D593B9-A8F6-402A-883D-4D5429FC3090}" srcOrd="0" destOrd="0" presId="urn:microsoft.com/office/officeart/2005/8/layout/process1"/>
    <dgm:cxn modelId="{424E2CD0-4302-4F46-9E3D-9FD29780E996}" type="presOf" srcId="{B51627F8-57A4-4A08-AACF-6B9AA5557804}" destId="{4D235C8D-7BA3-4570-896B-B51CC5D3359E}" srcOrd="0" destOrd="0" presId="urn:microsoft.com/office/officeart/2005/8/layout/process1"/>
    <dgm:cxn modelId="{B1FC68D2-5C6B-40C0-857E-5BF45B7F7DBB}" type="presOf" srcId="{DD1DEA5C-0FE3-44E5-AAA9-B0E098038F36}" destId="{2AD1E736-D1C7-4A4E-876A-AF1162E93712}" srcOrd="1" destOrd="0" presId="urn:microsoft.com/office/officeart/2005/8/layout/process1"/>
    <dgm:cxn modelId="{2E30CDE4-422B-4423-8113-744416CF390C}" srcId="{75DAB83D-D4F3-4511-9961-E0C4B90A4BE4}" destId="{B2AF4C5C-934D-405D-965C-D7A9728A9014}" srcOrd="0" destOrd="0" parTransId="{618E9A7B-AA36-430B-B22B-1389DC4AFACF}" sibTransId="{DD1DEA5C-0FE3-44E5-AAA9-B0E098038F36}"/>
    <dgm:cxn modelId="{E79268F4-78C2-4692-A827-76230325706B}" type="presOf" srcId="{71AFD132-C00A-4599-80A6-0965D38FC6CB}" destId="{00D5539C-9423-4DD3-85B4-131362EFFB76}" srcOrd="1" destOrd="0" presId="urn:microsoft.com/office/officeart/2005/8/layout/process1"/>
    <dgm:cxn modelId="{94CC71F9-7168-446C-9F0C-6487C99154D5}" type="presOf" srcId="{7015F25B-693A-4773-8C81-1C22C216DEE1}" destId="{FC6FF49C-1346-417D-98E2-5D0655DA368B}" srcOrd="0" destOrd="0" presId="urn:microsoft.com/office/officeart/2005/8/layout/process1"/>
    <dgm:cxn modelId="{E5D33D88-C39B-400F-9802-77034891D21B}" type="presParOf" srcId="{B1D593B9-A8F6-402A-883D-4D5429FC3090}" destId="{81A3EEA6-4D3A-4BF7-AEDF-61D8246E8C5E}" srcOrd="0" destOrd="0" presId="urn:microsoft.com/office/officeart/2005/8/layout/process1"/>
    <dgm:cxn modelId="{A0E256E9-7BF1-46B8-B2AF-9C8021D64E94}" type="presParOf" srcId="{B1D593B9-A8F6-402A-883D-4D5429FC3090}" destId="{676D5346-94A6-44B7-BC57-F87058582217}" srcOrd="1" destOrd="0" presId="urn:microsoft.com/office/officeart/2005/8/layout/process1"/>
    <dgm:cxn modelId="{87354701-1767-4057-B344-7A5EDB926C10}" type="presParOf" srcId="{676D5346-94A6-44B7-BC57-F87058582217}" destId="{2AD1E736-D1C7-4A4E-876A-AF1162E93712}" srcOrd="0" destOrd="0" presId="urn:microsoft.com/office/officeart/2005/8/layout/process1"/>
    <dgm:cxn modelId="{EB05476C-13C0-48D7-904C-C1C109A33E72}" type="presParOf" srcId="{B1D593B9-A8F6-402A-883D-4D5429FC3090}" destId="{C1AA6B47-0176-4456-A19E-38DBB458B7DE}" srcOrd="2" destOrd="0" presId="urn:microsoft.com/office/officeart/2005/8/layout/process1"/>
    <dgm:cxn modelId="{67671C8A-68DB-4941-8688-080B097AF088}" type="presParOf" srcId="{B1D593B9-A8F6-402A-883D-4D5429FC3090}" destId="{4D235C8D-7BA3-4570-896B-B51CC5D3359E}" srcOrd="3" destOrd="0" presId="urn:microsoft.com/office/officeart/2005/8/layout/process1"/>
    <dgm:cxn modelId="{42E20D9F-3250-4484-B9A7-BC206DC7DBF7}" type="presParOf" srcId="{4D235C8D-7BA3-4570-896B-B51CC5D3359E}" destId="{E41B5CF8-A7D4-4394-BF2A-AA56A4215C0C}" srcOrd="0" destOrd="0" presId="urn:microsoft.com/office/officeart/2005/8/layout/process1"/>
    <dgm:cxn modelId="{DB7BC8E6-34BF-413E-A268-AD0B2AB32ADC}" type="presParOf" srcId="{B1D593B9-A8F6-402A-883D-4D5429FC3090}" destId="{BAEA486F-019D-4CFA-B139-5BB8C5BC1A5D}" srcOrd="4" destOrd="0" presId="urn:microsoft.com/office/officeart/2005/8/layout/process1"/>
    <dgm:cxn modelId="{C700187B-AC1B-42F1-B4D1-38FD8F7B1A72}" type="presParOf" srcId="{B1D593B9-A8F6-402A-883D-4D5429FC3090}" destId="{15E75A72-CB73-47B5-9F90-3CB220F10B91}" srcOrd="5" destOrd="0" presId="urn:microsoft.com/office/officeart/2005/8/layout/process1"/>
    <dgm:cxn modelId="{022016E9-0D12-4CCD-89AF-E36E4BBC8F9B}" type="presParOf" srcId="{15E75A72-CB73-47B5-9F90-3CB220F10B91}" destId="{00D5539C-9423-4DD3-85B4-131362EFFB76}" srcOrd="0" destOrd="0" presId="urn:microsoft.com/office/officeart/2005/8/layout/process1"/>
    <dgm:cxn modelId="{21EAE46E-A900-4A18-954B-6947CB763D7A}" type="presParOf" srcId="{B1D593B9-A8F6-402A-883D-4D5429FC3090}" destId="{CA79E3BD-4537-4331-8888-9CA8A3A37483}" srcOrd="6" destOrd="0" presId="urn:microsoft.com/office/officeart/2005/8/layout/process1"/>
    <dgm:cxn modelId="{735FDADD-EE87-4BB3-829E-76058B5AB758}" type="presParOf" srcId="{B1D593B9-A8F6-402A-883D-4D5429FC3090}" destId="{DD5B9BAB-3A4B-4FDD-A387-D39F4F3B3A20}" srcOrd="7" destOrd="0" presId="urn:microsoft.com/office/officeart/2005/8/layout/process1"/>
    <dgm:cxn modelId="{B7E62DC2-730A-4AA8-B060-61D38B80B683}" type="presParOf" srcId="{DD5B9BAB-3A4B-4FDD-A387-D39F4F3B3A20}" destId="{8C3005B3-0EAA-4E3B-AF14-0117572139DE}" srcOrd="0" destOrd="0" presId="urn:microsoft.com/office/officeart/2005/8/layout/process1"/>
    <dgm:cxn modelId="{C292B0DD-145C-4081-BF8A-3D347D0CE5E9}" type="presParOf" srcId="{B1D593B9-A8F6-402A-883D-4D5429FC3090}" destId="{0C15509E-FA71-48AE-8040-83C12FAE2442}" srcOrd="8" destOrd="0" presId="urn:microsoft.com/office/officeart/2005/8/layout/process1"/>
    <dgm:cxn modelId="{9FA218D4-FC76-4948-A06D-6AFD8F9F7FB2}" type="presParOf" srcId="{B1D593B9-A8F6-402A-883D-4D5429FC3090}" destId="{FC6FF49C-1346-417D-98E2-5D0655DA368B}" srcOrd="9" destOrd="0" presId="urn:microsoft.com/office/officeart/2005/8/layout/process1"/>
    <dgm:cxn modelId="{83AE88E9-E88A-4FC6-AD39-B54F45DDB760}" type="presParOf" srcId="{FC6FF49C-1346-417D-98E2-5D0655DA368B}" destId="{84E2EB78-168B-4862-9916-33B80E8CEEDC}" srcOrd="0" destOrd="0" presId="urn:microsoft.com/office/officeart/2005/8/layout/process1"/>
    <dgm:cxn modelId="{DCCB7E9F-5A56-4A15-890E-001A79618904}" type="presParOf" srcId="{B1D593B9-A8F6-402A-883D-4D5429FC3090}" destId="{2BED2916-3761-4216-B5F6-8943494D4D7B}" srcOrd="10" destOrd="0" presId="urn:microsoft.com/office/officeart/2005/8/layout/process1"/>
    <dgm:cxn modelId="{1BF3EB35-1AE8-4306-A091-3A558F98A3B6}" type="presParOf" srcId="{B1D593B9-A8F6-402A-883D-4D5429FC3090}" destId="{0D54ED9B-FBC5-4538-A55B-847FE4739ED3}" srcOrd="11" destOrd="0" presId="urn:microsoft.com/office/officeart/2005/8/layout/process1"/>
    <dgm:cxn modelId="{A14B6D2E-10AC-420E-8B11-C9F92E3CC37F}" type="presParOf" srcId="{0D54ED9B-FBC5-4538-A55B-847FE4739ED3}" destId="{C2537035-741A-4D02-A96C-49220E7E267F}" srcOrd="0" destOrd="0" presId="urn:microsoft.com/office/officeart/2005/8/layout/process1"/>
    <dgm:cxn modelId="{F3902752-4A18-4AE9-A54B-A2B899F8926C}" type="presParOf" srcId="{B1D593B9-A8F6-402A-883D-4D5429FC3090}" destId="{A57AFF26-3334-4375-AF21-B1E59E314FFC}" srcOrd="12" destOrd="0" presId="urn:microsoft.com/office/officeart/2005/8/layout/process1"/>
    <dgm:cxn modelId="{79C0D37D-ECF3-4532-9EE1-204B4F7C4512}" type="presParOf" srcId="{B1D593B9-A8F6-402A-883D-4D5429FC3090}" destId="{7ADD926C-3044-46C8-A40D-92DCE5536D2A}" srcOrd="13" destOrd="0" presId="urn:microsoft.com/office/officeart/2005/8/layout/process1"/>
    <dgm:cxn modelId="{7417AE83-335D-4508-9200-872E5B082427}" type="presParOf" srcId="{7ADD926C-3044-46C8-A40D-92DCE5536D2A}" destId="{480D46BA-FC6B-4C2B-8EF9-1FBFF62292E3}" srcOrd="0" destOrd="0" presId="urn:microsoft.com/office/officeart/2005/8/layout/process1"/>
    <dgm:cxn modelId="{77BB3B2E-D305-41BB-8D29-AE0BCE90FC3B}" type="presParOf" srcId="{B1D593B9-A8F6-402A-883D-4D5429FC3090}" destId="{63DD384E-EC44-4534-AABD-ED57A6EE282C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3EEA6-4D3A-4BF7-AEDF-61D8246E8C5E}">
      <dsp:nvSpPr>
        <dsp:cNvPr id="0" name=""/>
        <dsp:cNvSpPr/>
      </dsp:nvSpPr>
      <dsp:spPr>
        <a:xfrm>
          <a:off x="1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400" kern="1200" dirty="0">
              <a:latin typeface="Cambria" panose="02040503050406030204" pitchFamily="18" charset="0"/>
              <a:ea typeface="Cambria" panose="02040503050406030204" pitchFamily="18" charset="0"/>
            </a:rPr>
            <a:t>Mic INMP441</a:t>
          </a:r>
        </a:p>
      </dsp:txBody>
      <dsp:txXfrm>
        <a:off x="18141" y="510448"/>
        <a:ext cx="995947" cy="583056"/>
      </dsp:txXfrm>
    </dsp:sp>
    <dsp:sp modelId="{676D5346-94A6-44B7-BC57-F87058582217}">
      <dsp:nvSpPr>
        <dsp:cNvPr id="0" name=""/>
        <dsp:cNvSpPr/>
      </dsp:nvSpPr>
      <dsp:spPr>
        <a:xfrm>
          <a:off x="1135451" y="673980"/>
          <a:ext cx="218832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1135451" y="725178"/>
        <a:ext cx="153182" cy="153596"/>
      </dsp:txXfrm>
    </dsp:sp>
    <dsp:sp modelId="{C1AA6B47-0176-4456-A19E-38DBB458B7DE}">
      <dsp:nvSpPr>
        <dsp:cNvPr id="0" name=""/>
        <dsp:cNvSpPr/>
      </dsp:nvSpPr>
      <dsp:spPr>
        <a:xfrm>
          <a:off x="1445120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300" kern="1200" dirty="0"/>
            <a:t>SAI1 (I2S)</a:t>
          </a:r>
        </a:p>
      </dsp:txBody>
      <dsp:txXfrm>
        <a:off x="1463260" y="510448"/>
        <a:ext cx="995947" cy="583056"/>
      </dsp:txXfrm>
    </dsp:sp>
    <dsp:sp modelId="{4D235C8D-7BA3-4570-896B-B51CC5D3359E}">
      <dsp:nvSpPr>
        <dsp:cNvPr id="0" name=""/>
        <dsp:cNvSpPr/>
      </dsp:nvSpPr>
      <dsp:spPr>
        <a:xfrm>
          <a:off x="2580570" y="673980"/>
          <a:ext cx="218832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2580570" y="725178"/>
        <a:ext cx="153182" cy="153596"/>
      </dsp:txXfrm>
    </dsp:sp>
    <dsp:sp modelId="{BAEA486F-019D-4CFA-B139-5BB8C5BC1A5D}">
      <dsp:nvSpPr>
        <dsp:cNvPr id="0" name=""/>
        <dsp:cNvSpPr/>
      </dsp:nvSpPr>
      <dsp:spPr>
        <a:xfrm>
          <a:off x="2890238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300" kern="1200" dirty="0"/>
            <a:t>GPDMA1 </a:t>
          </a:r>
        </a:p>
      </dsp:txBody>
      <dsp:txXfrm>
        <a:off x="2908378" y="510448"/>
        <a:ext cx="995947" cy="583056"/>
      </dsp:txXfrm>
    </dsp:sp>
    <dsp:sp modelId="{15E75A72-CB73-47B5-9F90-3CB220F10B91}">
      <dsp:nvSpPr>
        <dsp:cNvPr id="0" name=""/>
        <dsp:cNvSpPr/>
      </dsp:nvSpPr>
      <dsp:spPr>
        <a:xfrm>
          <a:off x="4026640" y="673980"/>
          <a:ext cx="220851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4026640" y="725178"/>
        <a:ext cx="154596" cy="153596"/>
      </dsp:txXfrm>
    </dsp:sp>
    <dsp:sp modelId="{CA79E3BD-4537-4331-8888-9CA8A3A37483}">
      <dsp:nvSpPr>
        <dsp:cNvPr id="0" name=""/>
        <dsp:cNvSpPr/>
      </dsp:nvSpPr>
      <dsp:spPr>
        <a:xfrm>
          <a:off x="4339167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300" kern="1200" dirty="0"/>
            <a:t>Double Buffer</a:t>
          </a:r>
        </a:p>
      </dsp:txBody>
      <dsp:txXfrm>
        <a:off x="4357307" y="510448"/>
        <a:ext cx="995947" cy="583056"/>
      </dsp:txXfrm>
    </dsp:sp>
    <dsp:sp modelId="{DD5B9BAB-3A4B-4FDD-A387-D39F4F3B3A20}">
      <dsp:nvSpPr>
        <dsp:cNvPr id="0" name=""/>
        <dsp:cNvSpPr/>
      </dsp:nvSpPr>
      <dsp:spPr>
        <a:xfrm>
          <a:off x="5474617" y="673980"/>
          <a:ext cx="218832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5474617" y="725178"/>
        <a:ext cx="153182" cy="153596"/>
      </dsp:txXfrm>
    </dsp:sp>
    <dsp:sp modelId="{0C15509E-FA71-48AE-8040-83C12FAE2442}">
      <dsp:nvSpPr>
        <dsp:cNvPr id="0" name=""/>
        <dsp:cNvSpPr/>
      </dsp:nvSpPr>
      <dsp:spPr>
        <a:xfrm>
          <a:off x="5784285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VAD</a:t>
          </a:r>
          <a:endParaRPr lang="en-ID" sz="1300" kern="1200" dirty="0"/>
        </a:p>
      </dsp:txBody>
      <dsp:txXfrm>
        <a:off x="5802425" y="510448"/>
        <a:ext cx="995947" cy="583056"/>
      </dsp:txXfrm>
    </dsp:sp>
    <dsp:sp modelId="{FC6FF49C-1346-417D-98E2-5D0655DA368B}">
      <dsp:nvSpPr>
        <dsp:cNvPr id="0" name=""/>
        <dsp:cNvSpPr/>
      </dsp:nvSpPr>
      <dsp:spPr>
        <a:xfrm>
          <a:off x="6919735" y="673980"/>
          <a:ext cx="218832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6919735" y="725178"/>
        <a:ext cx="153182" cy="153596"/>
      </dsp:txXfrm>
    </dsp:sp>
    <dsp:sp modelId="{2BED2916-3761-4216-B5F6-8943494D4D7B}">
      <dsp:nvSpPr>
        <dsp:cNvPr id="0" name=""/>
        <dsp:cNvSpPr/>
      </dsp:nvSpPr>
      <dsp:spPr>
        <a:xfrm>
          <a:off x="7229403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300" kern="1200" dirty="0"/>
            <a:t>DSP (MFCC)</a:t>
          </a:r>
        </a:p>
      </dsp:txBody>
      <dsp:txXfrm>
        <a:off x="7247543" y="510448"/>
        <a:ext cx="995947" cy="583056"/>
      </dsp:txXfrm>
    </dsp:sp>
    <dsp:sp modelId="{0D54ED9B-FBC5-4538-A55B-847FE4739ED3}">
      <dsp:nvSpPr>
        <dsp:cNvPr id="0" name=""/>
        <dsp:cNvSpPr/>
      </dsp:nvSpPr>
      <dsp:spPr>
        <a:xfrm>
          <a:off x="8364853" y="673980"/>
          <a:ext cx="218832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8364853" y="725178"/>
        <a:ext cx="153182" cy="153596"/>
      </dsp:txXfrm>
    </dsp:sp>
    <dsp:sp modelId="{A57AFF26-3334-4375-AF21-B1E59E314FFC}">
      <dsp:nvSpPr>
        <dsp:cNvPr id="0" name=""/>
        <dsp:cNvSpPr/>
      </dsp:nvSpPr>
      <dsp:spPr>
        <a:xfrm>
          <a:off x="8674521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300" kern="1200" dirty="0"/>
            <a:t>NN (CNN)</a:t>
          </a:r>
        </a:p>
      </dsp:txBody>
      <dsp:txXfrm>
        <a:off x="8692661" y="510448"/>
        <a:ext cx="995947" cy="583056"/>
      </dsp:txXfrm>
    </dsp:sp>
    <dsp:sp modelId="{7ADD926C-3044-46C8-A40D-92DCE5536D2A}">
      <dsp:nvSpPr>
        <dsp:cNvPr id="0" name=""/>
        <dsp:cNvSpPr/>
      </dsp:nvSpPr>
      <dsp:spPr>
        <a:xfrm>
          <a:off x="9809971" y="673980"/>
          <a:ext cx="218832" cy="2559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000" kern="1200"/>
        </a:p>
      </dsp:txBody>
      <dsp:txXfrm>
        <a:off x="9809971" y="725178"/>
        <a:ext cx="153182" cy="153596"/>
      </dsp:txXfrm>
    </dsp:sp>
    <dsp:sp modelId="{63DD384E-EC44-4534-AABD-ED57A6EE282C}">
      <dsp:nvSpPr>
        <dsp:cNvPr id="0" name=""/>
        <dsp:cNvSpPr/>
      </dsp:nvSpPr>
      <dsp:spPr>
        <a:xfrm>
          <a:off x="10119639" y="492308"/>
          <a:ext cx="1032227" cy="6193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300" kern="1200" dirty="0"/>
            <a:t>LED/Display</a:t>
          </a:r>
        </a:p>
      </dsp:txBody>
      <dsp:txXfrm>
        <a:off x="10137779" y="510448"/>
        <a:ext cx="995947" cy="583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583B5-8C2C-4AE5-9783-55330967354A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9C85B-6799-4B0B-8E75-B27F5E584F6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668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B79ED-B244-E472-ABC0-E8DC900F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07209-D815-F9B1-8FFB-6643571A2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C292E-10C1-49D3-B212-9CF531D1D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FA48-C23C-5913-A9CB-BAB5F2403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3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A0DDB-E2CB-5B53-02F6-FDD8E003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8DB1B-D917-468B-65B4-DCAB806E6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02E60-3E62-A5B1-D3DB-5B69A959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EFC60-2E21-17BA-4947-85E76FFF24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9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739C-DF7F-70AD-96BC-13C270DB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8D8E2-087D-4913-FF61-D258CC683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D6E08-538E-AACB-E3A5-E859401A8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C7DA2-7496-5330-0B26-716576EF6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58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D339-D811-7D6B-9ED4-7EE132979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47ABD-4A09-991F-081B-5A712A951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E0A89-3ED9-AF43-EA0A-120D2163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BAF8-A4F2-E126-3585-2407D7BB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D6C65-522E-8B37-0E98-71CE2AE3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20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55BA-8D67-371E-AC60-F7EAD7F3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937B-1C9B-8C25-90F0-78301C439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2AF6A-0B26-22CD-5A76-7AF27B0F3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5813B-4B2F-FC68-E955-008DFD36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19CC2-9D45-A44C-D933-9C2380F1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011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60E8-2640-3C73-C6EF-4E12705D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EA4F1-1E6D-A530-CC28-C200C7A3A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DECD-9AF8-E9BC-2470-EC872687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9371A-C13E-3B5E-4250-F1FC3B04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DBC33-17A8-A492-C213-94B048FC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513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816C-7535-1237-36C0-F117A300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27FAE-AB4D-B605-6C90-D40B54B62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9E519-AA97-E171-A7D8-ACD7802D0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203CB-4C64-049C-E757-E9D0C443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79389-AEF9-45A7-1EE6-8CCF239F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45AD5-F03B-029F-4E6C-C0F3A637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489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EDB2-E753-4882-B75B-0744455D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462FB-3BEC-CEC5-7D0D-1423DFCFB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1ECBA-5E79-2FC6-A64D-D86D7E02A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291BE-A59F-AB16-129D-5078C234C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AE588-DAC3-19C8-3E98-9D3FFA743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176A1-A524-04F8-8FCC-0E2BB893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DDD93-449F-15B6-8A93-2E9663DF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2A0CD-35CA-24B7-C3F7-373BD151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086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9D92-9B59-5B6F-3FB8-F8F2FFDD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32868-2C68-6003-06D9-C4DB0F24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D61A7-C452-E738-C671-03407BDF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83E25-198E-C2FF-EEA4-8708BC1B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3243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B2714-D1DA-3A6F-4AFE-CFA48F56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D6B8B-DCE0-D9E3-9819-9FBF51AF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180AD-9D04-0CF8-A71B-9F268CAA5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886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D72E-76C2-EA46-212F-29E04453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EC87-7A9C-BF0B-0812-CF490E349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52147-4090-593B-60A7-D8676C863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081A8-1848-8DA0-12C5-8484DE4A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43393-2EE6-E8E8-0491-A3C93055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66784-8455-3868-4D1F-3B2D4108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153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540B-47C3-DDD5-79A5-DA2ABBD2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DAA8B1-E973-3CE8-A8ED-492780E80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ED336-C2A3-7DD6-19FD-4309990BC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FC802-B580-CAB6-482B-962644A5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A57B2-1CB2-35E5-1BA4-ADCE85F5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677A1-FBB8-A6D0-1A83-956BF0AF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230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DF58-8D14-3FCF-2EE1-23CF6F73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5B00D-AF40-BF85-7DB4-9003FE082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4D6CE-8E24-E8D0-913A-F5C97943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30E1E-F73A-B185-6F7D-5D2867CF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42B31-C115-D6F7-EE00-F3BBECDB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402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86C5B-E49A-30F4-5AE3-4D505EBAD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30F6C-D268-E704-4B3A-A19EE947A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0DCDA-C661-3CC4-AF13-FA6AEE22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BAA10-BCD5-D0C0-91F7-00A2104C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F8C0-32D0-D551-138F-D89A9C4D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4690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20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3602A1-EF33-D30D-3187-FC8156C8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C0C61-93D9-2A21-7510-4E6DE99A1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F0303-DF3F-8252-CA50-00A32BB7F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F63A5-CFF4-44C5-8353-C6DAAA8CD084}" type="datetimeFigureOut">
              <a:rPr lang="en-ID" smtClean="0"/>
              <a:t>16/07/2026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0D6F6-A5FE-68E4-1E53-D81B5341C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7F09-F0A0-11F1-2465-FF683E994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EE8B0-9D83-415C-80E1-9C99945972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856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12553112-0DC5-0A3A-9567-54D6D2CBA2AB}"/>
              </a:ext>
            </a:extLst>
          </p:cNvPr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 PRAKTIK — PT LEN (PERSERO) – ICDEC</a:t>
            </a:r>
            <a:endParaRPr lang="en-US" sz="1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6A32846-C3DB-B621-3FDA-57BC74410F3A}"/>
              </a:ext>
            </a:extLst>
          </p:cNvPr>
          <p:cNvSpPr/>
          <p:nvPr/>
        </p:nvSpPr>
        <p:spPr>
          <a:xfrm>
            <a:off x="822960" y="237744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Voice-Activated Dispenser dengan</a:t>
            </a:r>
            <a:endParaRPr lang="en-US" sz="4000" b="1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Edge AI Keyword Spotting</a:t>
            </a:r>
            <a:endParaRPr lang="en-US" sz="4000" b="1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125C463-A389-70DD-AD31-DC46B6A671F5}"/>
              </a:ext>
            </a:extLst>
          </p:cNvPr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M1 — Implementasi pada STM32U5A9J-DK (Cortex-M33)</a:t>
            </a:r>
            <a:endParaRPr lang="en-US" sz="1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B8F94A46-94C5-82EB-04F4-502F98B25C0F}"/>
              </a:ext>
            </a:extLst>
          </p:cNvPr>
          <p:cNvSpPr/>
          <p:nvPr/>
        </p:nvSpPr>
        <p:spPr>
          <a:xfrm>
            <a:off x="822960" y="4892040"/>
            <a:ext cx="457200" cy="457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D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F1A0CFC-3A59-7521-3285-6F305120ACD4}"/>
              </a:ext>
            </a:extLst>
          </p:cNvPr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 2026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56093E-80F6-88FB-76D4-DF8B52575609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B1D296-E619-535A-23BF-FE289BB26ACA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941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476048-37B6-A6AE-161A-60D8264F1A4D}"/>
              </a:ext>
            </a:extLst>
          </p:cNvPr>
          <p:cNvSpPr/>
          <p:nvPr/>
        </p:nvSpPr>
        <p:spPr>
          <a:xfrm>
            <a:off x="1364102" y="2432476"/>
            <a:ext cx="3733799" cy="433491"/>
          </a:xfrm>
          <a:prstGeom prst="round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1E2D4-7898-E357-706E-9FFD616FE93A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A5FA19-D1A2-5459-0FBE-61965E09C924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C91B8CF-3E39-8747-A71D-685A35AD4EA6}"/>
              </a:ext>
            </a:extLst>
          </p:cNvPr>
          <p:cNvSpPr/>
          <p:nvPr/>
        </p:nvSpPr>
        <p:spPr>
          <a:xfrm>
            <a:off x="457200" y="1124873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Objektif</a:t>
            </a:r>
            <a:r>
              <a:rPr lang="en-US" sz="30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Akhir</a:t>
            </a:r>
            <a:endParaRPr lang="en-US" sz="30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596ABE09-864D-B314-B498-732F5CA09953}"/>
              </a:ext>
            </a:extLst>
          </p:cNvPr>
          <p:cNvSpPr/>
          <p:nvPr/>
        </p:nvSpPr>
        <p:spPr>
          <a:xfrm>
            <a:off x="1364104" y="2876127"/>
            <a:ext cx="3733797" cy="2038773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/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E8B698A9-5114-5C05-1AB7-5C5FE903FEC8}"/>
              </a:ext>
            </a:extLst>
          </p:cNvPr>
          <p:cNvSpPr/>
          <p:nvPr/>
        </p:nvSpPr>
        <p:spPr>
          <a:xfrm>
            <a:off x="6858967" y="2900774"/>
            <a:ext cx="3733799" cy="2038772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/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20B032-5A22-0002-961B-B58E601709EF}"/>
              </a:ext>
            </a:extLst>
          </p:cNvPr>
          <p:cNvSpPr txBox="1"/>
          <p:nvPr/>
        </p:nvSpPr>
        <p:spPr>
          <a:xfrm>
            <a:off x="1364102" y="3070636"/>
            <a:ext cx="37337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600" dirty="0" err="1"/>
              <a:t>Evaluasi</a:t>
            </a:r>
            <a:r>
              <a:rPr lang="en-ID" sz="1600" dirty="0"/>
              <a:t> batas </a:t>
            </a:r>
            <a:r>
              <a:rPr lang="en-ID" sz="1600" dirty="0" err="1"/>
              <a:t>kapasitas</a:t>
            </a:r>
            <a:r>
              <a:rPr lang="en-ID" sz="1600" dirty="0"/>
              <a:t> </a:t>
            </a:r>
            <a:r>
              <a:rPr lang="en-ID" sz="1600" dirty="0" err="1"/>
              <a:t>komputasi</a:t>
            </a:r>
            <a:r>
              <a:rPr lang="en-ID" sz="1600" dirty="0"/>
              <a:t> Cortex-M33 </a:t>
            </a:r>
            <a:r>
              <a:rPr lang="en-ID" sz="1600" dirty="0" err="1"/>
              <a:t>untuk</a:t>
            </a:r>
            <a:r>
              <a:rPr lang="en-ID" sz="1600" dirty="0"/>
              <a:t> audio/voice command activation</a:t>
            </a:r>
          </a:p>
          <a:p>
            <a:pPr algn="ctr"/>
            <a:r>
              <a:rPr lang="en-ID" sz="1600" dirty="0"/>
              <a:t>— </a:t>
            </a:r>
          </a:p>
          <a:p>
            <a:pPr algn="just"/>
            <a:r>
              <a:rPr lang="en-ID" sz="1600" dirty="0" err="1"/>
              <a:t>seberapa</a:t>
            </a:r>
            <a:r>
              <a:rPr lang="en-ID" sz="1600" dirty="0"/>
              <a:t> </a:t>
            </a:r>
            <a:r>
              <a:rPr lang="en-ID" sz="1600" dirty="0" err="1"/>
              <a:t>besar</a:t>
            </a:r>
            <a:r>
              <a:rPr lang="en-ID" sz="1600" dirty="0"/>
              <a:t> </a:t>
            </a:r>
            <a:r>
              <a:rPr lang="en-ID" sz="1600" dirty="0" err="1"/>
              <a:t>beban</a:t>
            </a:r>
            <a:r>
              <a:rPr lang="en-ID" sz="1600" dirty="0"/>
              <a:t> DSP+NN yang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ditangani</a:t>
            </a:r>
            <a:r>
              <a:rPr lang="en-ID" sz="1600" dirty="0"/>
              <a:t> chip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real-time</a:t>
            </a:r>
            <a:endParaRPr lang="en-US" sz="16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5DEDF5-62DE-652B-2745-D2501B0F5133}"/>
              </a:ext>
            </a:extLst>
          </p:cNvPr>
          <p:cNvSpPr txBox="1"/>
          <p:nvPr/>
        </p:nvSpPr>
        <p:spPr>
          <a:xfrm>
            <a:off x="6858967" y="3095282"/>
            <a:ext cx="37337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600" dirty="0" err="1"/>
              <a:t>Implementasi</a:t>
            </a:r>
            <a:r>
              <a:rPr lang="en-ID" sz="1600" dirty="0"/>
              <a:t> proof-of-concept pada use case </a:t>
            </a:r>
            <a:r>
              <a:rPr lang="en-ID" sz="1600" dirty="0" err="1"/>
              <a:t>nyata</a:t>
            </a:r>
            <a:endParaRPr lang="en-ID" sz="1600" dirty="0"/>
          </a:p>
          <a:p>
            <a:pPr algn="ctr"/>
            <a:r>
              <a:rPr lang="en-ID" sz="1600" dirty="0"/>
              <a:t>—</a:t>
            </a:r>
          </a:p>
          <a:p>
            <a:pPr algn="just"/>
            <a:r>
              <a:rPr lang="en-ID" sz="1600" dirty="0"/>
              <a:t>voice-activated dispenser (</a:t>
            </a:r>
            <a:r>
              <a:rPr lang="en-ID" sz="1600" dirty="0" err="1"/>
              <a:t>kontrol</a:t>
            </a:r>
            <a:r>
              <a:rPr lang="en-ID" sz="1600" dirty="0"/>
              <a:t> via </a:t>
            </a:r>
            <a:r>
              <a:rPr lang="en-ID" sz="1600" dirty="0" err="1"/>
              <a:t>suara</a:t>
            </a:r>
            <a:r>
              <a:rPr lang="en-ID" sz="1600" dirty="0"/>
              <a:t>, </a:t>
            </a:r>
            <a:r>
              <a:rPr lang="en-ID" sz="1600" dirty="0" err="1"/>
              <a:t>ditampilkan</a:t>
            </a:r>
            <a:r>
              <a:rPr lang="en-ID" sz="1600" dirty="0"/>
              <a:t> </a:t>
            </a:r>
            <a:r>
              <a:rPr lang="en-ID" sz="1600" dirty="0" err="1"/>
              <a:t>lewat</a:t>
            </a:r>
            <a:r>
              <a:rPr lang="en-ID" sz="1600" dirty="0"/>
              <a:t> display,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aktuator</a:t>
            </a:r>
            <a:r>
              <a:rPr lang="en-ID" sz="1600" dirty="0"/>
              <a:t> </a:t>
            </a:r>
            <a:r>
              <a:rPr lang="en-ID" sz="1600" dirty="0" err="1"/>
              <a:t>fisik</a:t>
            </a:r>
            <a:r>
              <a:rPr lang="en-ID" sz="1600" dirty="0"/>
              <a:t>)</a:t>
            </a:r>
            <a:endParaRPr lang="en-US" sz="16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883B85-8B74-2297-F6CC-739E5B383EC2}"/>
              </a:ext>
            </a:extLst>
          </p:cNvPr>
          <p:cNvSpPr txBox="1"/>
          <p:nvPr/>
        </p:nvSpPr>
        <p:spPr>
          <a:xfrm>
            <a:off x="1364099" y="2464555"/>
            <a:ext cx="3733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Objektif</a:t>
            </a:r>
            <a:r>
              <a:rPr lang="en-ID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</a:t>
            </a: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8FEEA1B7-1AF0-9251-213C-990FDB8C9286}"/>
              </a:ext>
            </a:extLst>
          </p:cNvPr>
          <p:cNvSpPr/>
          <p:nvPr/>
        </p:nvSpPr>
        <p:spPr>
          <a:xfrm>
            <a:off x="457200" y="647722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BA70900B-DBFE-CE51-867C-946D0D63EC6F}"/>
              </a:ext>
            </a:extLst>
          </p:cNvPr>
          <p:cNvSpPr/>
          <p:nvPr/>
        </p:nvSpPr>
        <p:spPr>
          <a:xfrm>
            <a:off x="11438704" y="647722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9CFADA2-275D-6904-B568-B8471291F868}"/>
              </a:ext>
            </a:extLst>
          </p:cNvPr>
          <p:cNvSpPr/>
          <p:nvPr/>
        </p:nvSpPr>
        <p:spPr>
          <a:xfrm>
            <a:off x="6858970" y="2432476"/>
            <a:ext cx="3733799" cy="433491"/>
          </a:xfrm>
          <a:prstGeom prst="round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97CF95-BF33-DB46-813E-96029F781599}"/>
              </a:ext>
            </a:extLst>
          </p:cNvPr>
          <p:cNvSpPr txBox="1"/>
          <p:nvPr/>
        </p:nvSpPr>
        <p:spPr>
          <a:xfrm>
            <a:off x="6858967" y="2464555"/>
            <a:ext cx="3733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Objektif</a:t>
            </a:r>
            <a:r>
              <a:rPr lang="en-ID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73669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C919-1DBB-7333-FCE2-F5A02FFA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2AE85D-875A-2E44-A596-2A85AEA7F368}"/>
              </a:ext>
            </a:extLst>
          </p:cNvPr>
          <p:cNvSpPr/>
          <p:nvPr/>
        </p:nvSpPr>
        <p:spPr>
          <a:xfrm>
            <a:off x="374464" y="9784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8514FB-001B-7E7E-1A3C-C0523EEF45B0}"/>
              </a:ext>
            </a:extLst>
          </p:cNvPr>
          <p:cNvSpPr/>
          <p:nvPr/>
        </p:nvSpPr>
        <p:spPr>
          <a:xfrm>
            <a:off x="374464" y="12252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Saat Ini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B751C27-F424-869F-18D4-15FDEBA80B0D}"/>
              </a:ext>
            </a:extLst>
          </p:cNvPr>
          <p:cNvSpPr/>
          <p:nvPr/>
        </p:nvSpPr>
        <p:spPr>
          <a:xfrm>
            <a:off x="457200" y="647722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603E0B6-7B88-D343-1B26-B1464712163C}"/>
              </a:ext>
            </a:extLst>
          </p:cNvPr>
          <p:cNvSpPr/>
          <p:nvPr/>
        </p:nvSpPr>
        <p:spPr>
          <a:xfrm>
            <a:off x="11438704" y="647722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A1A4E6-FFBC-B872-676E-705A29F9121A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562976-7931-BB80-CAF6-1EE6BE6D55A8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080389E-D15A-A32F-0D6D-68DAE3608617}"/>
              </a:ext>
            </a:extLst>
          </p:cNvPr>
          <p:cNvSpPr/>
          <p:nvPr/>
        </p:nvSpPr>
        <p:spPr>
          <a:xfrm>
            <a:off x="457200" y="1773936"/>
            <a:ext cx="4814890" cy="1400383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Akuisisi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Audio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KWS Baseline Real-Time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Transisi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menggunakan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ThreadX</a:t>
            </a:r>
            <a:endParaRPr lang="en-US" sz="1700" b="1" dirty="0">
              <a:solidFill>
                <a:srgbClr val="21295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TouchGFX</a:t>
            </a:r>
            <a:endParaRPr lang="en-US" sz="1700" b="1" dirty="0">
              <a:solidFill>
                <a:srgbClr val="21295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Pengukuran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Cycle-Level pada DSP</a:t>
            </a:r>
            <a:endParaRPr lang="en-US" sz="17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18A586-761E-F274-F886-6858D4289578}"/>
              </a:ext>
            </a:extLst>
          </p:cNvPr>
          <p:cNvSpPr txBox="1"/>
          <p:nvPr/>
        </p:nvSpPr>
        <p:spPr>
          <a:xfrm>
            <a:off x="457200" y="4336373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</a:rPr>
              <a:t>Overview </a:t>
            </a:r>
            <a:r>
              <a:rPr lang="en-ID" b="1" dirty="0" err="1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</a:rPr>
              <a:t>Arsitektur</a:t>
            </a:r>
            <a:r>
              <a:rPr lang="en-ID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</a:rPr>
              <a:t> End-to-End</a:t>
            </a:r>
          </a:p>
        </p:txBody>
      </p:sp>
      <p:graphicFrame>
        <p:nvGraphicFramePr>
          <p:cNvPr id="77" name="Diagram 76">
            <a:extLst>
              <a:ext uri="{FF2B5EF4-FFF2-40B4-BE49-F238E27FC236}">
                <a16:creationId xmlns:a16="http://schemas.microsoft.com/office/drawing/2014/main" id="{9115D1ED-2336-AC67-E681-7F63829CF0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292605"/>
              </p:ext>
            </p:extLst>
          </p:nvPr>
        </p:nvGraphicFramePr>
        <p:xfrm>
          <a:off x="579120" y="4604821"/>
          <a:ext cx="11155680" cy="1603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9" name="Picture 78" descr="The diagram illustrates a circuit board with various components, including a microcontroller (STM32U5A9J-DK), a display (INMP441), and several other electronic parts such as TSER, CNIO, ESET, PE4, SCK, and others, connected with wires and a power supply.&#10;&#10;AI-generated content may be incorrect.">
            <a:extLst>
              <a:ext uri="{FF2B5EF4-FFF2-40B4-BE49-F238E27FC236}">
                <a16:creationId xmlns:a16="http://schemas.microsoft.com/office/drawing/2014/main" id="{F172717A-97BC-9380-241D-5A8B3ECCF7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725" y="800323"/>
            <a:ext cx="5716224" cy="3636934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B46DD1F-9CB0-3BF4-F090-1AF6589648F6}"/>
              </a:ext>
            </a:extLst>
          </p:cNvPr>
          <p:cNvCxnSpPr/>
          <p:nvPr/>
        </p:nvCxnSpPr>
        <p:spPr>
          <a:xfrm>
            <a:off x="457200" y="5939817"/>
            <a:ext cx="5516880" cy="0"/>
          </a:xfrm>
          <a:prstGeom prst="straightConnector1">
            <a:avLst/>
          </a:prstGeom>
          <a:ln w="25400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40C6747-BF31-3A74-BF18-67ADE4B3BCAB}"/>
              </a:ext>
            </a:extLst>
          </p:cNvPr>
          <p:cNvCxnSpPr>
            <a:cxnSpLocks/>
          </p:cNvCxnSpPr>
          <p:nvPr/>
        </p:nvCxnSpPr>
        <p:spPr>
          <a:xfrm>
            <a:off x="6387830" y="5939817"/>
            <a:ext cx="3942944" cy="0"/>
          </a:xfrm>
          <a:prstGeom prst="straightConnector1">
            <a:avLst/>
          </a:prstGeom>
          <a:ln w="25400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582EE73-3425-00D5-2AA9-94261E9C045B}"/>
              </a:ext>
            </a:extLst>
          </p:cNvPr>
          <p:cNvCxnSpPr>
            <a:cxnSpLocks/>
          </p:cNvCxnSpPr>
          <p:nvPr/>
        </p:nvCxnSpPr>
        <p:spPr>
          <a:xfrm>
            <a:off x="10719881" y="5939817"/>
            <a:ext cx="1014919" cy="0"/>
          </a:xfrm>
          <a:prstGeom prst="straightConnector1">
            <a:avLst/>
          </a:prstGeom>
          <a:ln w="25400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 0">
            <a:extLst>
              <a:ext uri="{FF2B5EF4-FFF2-40B4-BE49-F238E27FC236}">
                <a16:creationId xmlns:a16="http://schemas.microsoft.com/office/drawing/2014/main" id="{454CF768-652B-B44A-F6AA-5709FA63DBBD}"/>
              </a:ext>
            </a:extLst>
          </p:cNvPr>
          <p:cNvSpPr/>
          <p:nvPr/>
        </p:nvSpPr>
        <p:spPr>
          <a:xfrm>
            <a:off x="7162786" y="6026477"/>
            <a:ext cx="2568102" cy="307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1" name="Text 0">
            <a:extLst>
              <a:ext uri="{FF2B5EF4-FFF2-40B4-BE49-F238E27FC236}">
                <a16:creationId xmlns:a16="http://schemas.microsoft.com/office/drawing/2014/main" id="{48DD9CA5-435E-D60C-000A-4B2B51892E12}"/>
              </a:ext>
            </a:extLst>
          </p:cNvPr>
          <p:cNvSpPr/>
          <p:nvPr/>
        </p:nvSpPr>
        <p:spPr>
          <a:xfrm>
            <a:off x="2083989" y="6032605"/>
            <a:ext cx="2568102" cy="307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 err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Akuisisi</a:t>
            </a: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3" name="Text 0">
            <a:extLst>
              <a:ext uri="{FF2B5EF4-FFF2-40B4-BE49-F238E27FC236}">
                <a16:creationId xmlns:a16="http://schemas.microsoft.com/office/drawing/2014/main" id="{6AFDA37C-84B0-B579-E0B9-905256580CD4}"/>
              </a:ext>
            </a:extLst>
          </p:cNvPr>
          <p:cNvSpPr/>
          <p:nvPr/>
        </p:nvSpPr>
        <p:spPr>
          <a:xfrm>
            <a:off x="10443615" y="6026476"/>
            <a:ext cx="1567450" cy="307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903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784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2529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Akuisisi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Audio (I2S / SAI)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1F6F9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1485900" y="2194560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14859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072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 INMP441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Mikrofon digital MEMS, output I2S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90088" y="3081528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2487168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1F6F9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320540" y="2194560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3205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8072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20440" y="34015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kHz, I2S, 32-bit mono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24728" y="3081528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487168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1F6F9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7155180" y="2194560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71551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8072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GPDMA1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55080" y="34015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List, mode Circular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59368" y="3081528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2487168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9989820" y="2194560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99898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89720" y="28072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Double-Buffer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89720" y="34015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audio siap diproses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7365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 DMA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965581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raw audio dari peripheral ke memori sepenuhnya ditangani hardware — tidak membebani CPU.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17920" y="47355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Skema Double-Buffer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4988884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Separuh buffer diisi DMA sementara separuh lainnya siap diproses, menghindari data race.</a:t>
            </a:r>
            <a:endParaRPr lang="en-US" sz="12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2536A1-C165-EDD9-A69E-D03FAFC21426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998955-2E01-5FEE-274A-9B8E875D71F6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4994F25A-6B3D-A3A3-430B-FB09AC450BC5}"/>
              </a:ext>
            </a:extLst>
          </p:cNvPr>
          <p:cNvSpPr/>
          <p:nvPr/>
        </p:nvSpPr>
        <p:spPr>
          <a:xfrm>
            <a:off x="457200" y="647722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A4027E42-D0B9-797F-61DF-435E4FF50991}"/>
              </a:ext>
            </a:extLst>
          </p:cNvPr>
          <p:cNvSpPr/>
          <p:nvPr/>
        </p:nvSpPr>
        <p:spPr>
          <a:xfrm>
            <a:off x="11438704" y="647722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9ABE-7833-579D-6C62-0A634B48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2BC909-A23A-7960-9A03-06C2D29ABAB5}"/>
              </a:ext>
            </a:extLst>
          </p:cNvPr>
          <p:cNvSpPr/>
          <p:nvPr/>
        </p:nvSpPr>
        <p:spPr>
          <a:xfrm>
            <a:off x="457200" y="9784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55488D-25EF-FB13-3F3A-61A8FF032391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0A579E-81EB-C399-FE3F-EA62010AD0EA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52C4FF6B-8E05-3EDE-514D-39E61A24B256}"/>
              </a:ext>
            </a:extLst>
          </p:cNvPr>
          <p:cNvSpPr/>
          <p:nvPr/>
        </p:nvSpPr>
        <p:spPr>
          <a:xfrm>
            <a:off x="457200" y="647722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75FC9159-58B7-7271-75BF-4731DBDDE855}"/>
              </a:ext>
            </a:extLst>
          </p:cNvPr>
          <p:cNvSpPr/>
          <p:nvPr/>
        </p:nvSpPr>
        <p:spPr>
          <a:xfrm>
            <a:off x="11438704" y="647722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42" name="Picture 41" descr="The image depicts a diagram with components such as Buffer A, Buffer B, and a CPU processing command, illustrating a sequence of operations or data flow in a computer system.&#10;&#10;AI-generated content may be incorrect.">
            <a:extLst>
              <a:ext uri="{FF2B5EF4-FFF2-40B4-BE49-F238E27FC236}">
                <a16:creationId xmlns:a16="http://schemas.microsoft.com/office/drawing/2014/main" id="{0EE27A6C-E088-68A1-44B3-05D977D49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781"/>
            <a:ext cx="6889463" cy="3875323"/>
          </a:xfrm>
          <a:prstGeom prst="rect">
            <a:avLst/>
          </a:prstGeom>
        </p:spPr>
      </p:pic>
      <p:pic>
        <p:nvPicPr>
          <p:cNvPr id="33" name="Picture 32" descr="The image shows a digital oscilloscope screen displaying waveforms, with various settings and parameters like frequency, amplitude, and triggering options.&#10;&#10;AI-generated content may be incorrect.">
            <a:extLst>
              <a:ext uri="{FF2B5EF4-FFF2-40B4-BE49-F238E27FC236}">
                <a16:creationId xmlns:a16="http://schemas.microsoft.com/office/drawing/2014/main" id="{BC57FF59-C2B7-958A-C000-E4E31458F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584" y="2410789"/>
            <a:ext cx="3810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2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Audio Mentah → DSP → Neural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1F6F9"/>
          </a:solidFill>
          <a:ln/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Mentah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16.000 sample / detik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60520" y="21717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Tahap DSP (MFCC)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3776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fitur spektral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01000" y="21717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595360" y="1691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778240" y="2011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77824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probabilitas label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Penggunaan</a:t>
            </a: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Cortex-M33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4114800"/>
          <a:ext cx="7863840" cy="21945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yang Bekerja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Akuisisi audio mentah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DMA — CPU idle / bebas tugas 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 DSP (MFCC)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Dieksekusi oleh Cortex-M33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 Neural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Dieksekusi oleh Cortex-M33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915400" y="4279392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9DD4D8-5AFB-902D-0A48-F2931E9DA6F2}"/>
              </a:ext>
            </a:extLst>
          </p:cNvPr>
          <p:cNvSpPr/>
          <p:nvPr/>
        </p:nvSpPr>
        <p:spPr>
          <a:xfrm>
            <a:off x="11816187" y="4069080"/>
            <a:ext cx="365760" cy="27889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7776D0-8C38-9739-0C2D-004C44EF38BE}"/>
              </a:ext>
            </a:extLst>
          </p:cNvPr>
          <p:cNvSpPr/>
          <p:nvPr/>
        </p:nvSpPr>
        <p:spPr>
          <a:xfrm>
            <a:off x="11450427" y="4069080"/>
            <a:ext cx="365760" cy="2788920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F21B47D-0133-B8AF-98FC-757C3A3D4E60}"/>
              </a:ext>
            </a:extLst>
          </p:cNvPr>
          <p:cNvSpPr/>
          <p:nvPr/>
        </p:nvSpPr>
        <p:spPr>
          <a:xfrm>
            <a:off x="457200" y="647722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15D6D7F0-3C64-8472-FACD-3640EF6CC855}"/>
              </a:ext>
            </a:extLst>
          </p:cNvPr>
          <p:cNvSpPr/>
          <p:nvPr/>
        </p:nvSpPr>
        <p:spPr>
          <a:xfrm>
            <a:off x="11063266" y="647722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ARSITEKTUR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Tahap DSP: Ekstraksi Fitur MFCC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Pre-emphasis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15376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frekuensi tinggi (α=0,98)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8793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31520" y="269879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653073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12509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frame × 320 sample (20 ms)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83597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731520" y="348359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437877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53063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titik, CMSIS-DSP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117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31520" y="4311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265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 Filterbank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8798" y="4329659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 segitiga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1917881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114800" y="19178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09160" y="1872161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+ DCT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19498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13 koefisien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45282" y="2794609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4145282" y="279460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39642" y="2857354"/>
            <a:ext cx="32004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Cepstral Mean and Variance Normalization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39643" y="3085954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 frame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45282" y="4159962"/>
            <a:ext cx="291148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</a:t>
            </a:r>
            <a:r>
              <a:rPr lang="en-US" sz="1300" b="1" i="1" dirty="0" err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</a:t>
            </a:r>
            <a:r>
              <a:rPr lang="en-US" sz="1300" b="1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300" b="1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50 × 13 = 650 angka fitur, diteruskan ke Neural Network</a:t>
            </a:r>
            <a:endParaRPr lang="en-US" sz="1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90311" y="64961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3A2E77-9746-FB9C-62C1-BB871A0DA39D}"/>
              </a:ext>
            </a:extLst>
          </p:cNvPr>
          <p:cNvSpPr/>
          <p:nvPr/>
        </p:nvSpPr>
        <p:spPr>
          <a:xfrm>
            <a:off x="11816187" y="4069080"/>
            <a:ext cx="365760" cy="27889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70BEC4-20CA-C2BA-F045-2437D859F447}"/>
              </a:ext>
            </a:extLst>
          </p:cNvPr>
          <p:cNvSpPr/>
          <p:nvPr/>
        </p:nvSpPr>
        <p:spPr>
          <a:xfrm>
            <a:off x="11450427" y="4069080"/>
            <a:ext cx="365760" cy="2788920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75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ARSITEKTUR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Neural Network (CNN)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600200"/>
          <a:ext cx="7315200" cy="4663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Bentuk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 fitur MFCC hasil tahap DSP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Reshape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×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Ditata ulang: 50 waktu × 13 koefisien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 #1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×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filter, kernel 3×13, ReLU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 #1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×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Downsampling waktu: 50 → 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 #2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×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filter, ReLU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 #2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×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Downsampling waktu: 25 →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208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× 16 = 208 angka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Connected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 fitur → 4 logits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probabilitas, total = 1,0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4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11 Node Komputasi</a:t>
            </a:r>
            <a:endParaRPr lang="en-US" sz="1450" dirty="0"/>
          </a:p>
        </p:txBody>
      </p:sp>
      <p:sp>
        <p:nvSpPr>
          <p:cNvPr id="4" name="Text 4"/>
          <p:cNvSpPr/>
          <p:nvPr/>
        </p:nvSpPr>
        <p:spPr>
          <a:xfrm>
            <a:off x="8321040" y="2015473"/>
            <a:ext cx="3200400" cy="857007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2× Conv2D, 2× MaxPool, beberapa Reshape, 1× Fully Connected, 1× Softmax — dijalankan berurutan.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299694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4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Kuantisasi INT8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21040" y="3362706"/>
            <a:ext cx="3200400" cy="862843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Seluruh bobot &amp; aktivasi model dalam format bilangan bulat 8-bit (bukan float) — menghemat memori dan mempercepat komputasi di MCU.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642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E721DC-C98D-C254-E9A0-C8A01599758E}"/>
              </a:ext>
            </a:extLst>
          </p:cNvPr>
          <p:cNvSpPr/>
          <p:nvPr/>
        </p:nvSpPr>
        <p:spPr>
          <a:xfrm>
            <a:off x="11816187" y="4069080"/>
            <a:ext cx="365760" cy="27889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BE9A06-DD08-D7A4-B6F4-5B19AD4F109D}"/>
              </a:ext>
            </a:extLst>
          </p:cNvPr>
          <p:cNvSpPr/>
          <p:nvPr/>
        </p:nvSpPr>
        <p:spPr>
          <a:xfrm>
            <a:off x="11450427" y="4069080"/>
            <a:ext cx="365760" cy="2788920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77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C645ECF-0523-18D5-05F4-C48DD352FE44}"/>
              </a:ext>
            </a:extLst>
          </p:cNvPr>
          <p:cNvSpPr/>
          <p:nvPr/>
        </p:nvSpPr>
        <p:spPr>
          <a:xfrm>
            <a:off x="6882063" y="2454442"/>
            <a:ext cx="4822257" cy="304358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0"/>
          <p:cNvSpPr/>
          <p:nvPr/>
        </p:nvSpPr>
        <p:spPr>
          <a:xfrm>
            <a:off x="457200" y="9326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7957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Mekanisme Continuous / Sliding Window</a:t>
            </a:r>
            <a:endParaRPr lang="en-US" sz="2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2AEB04-35DF-4A27-6D24-4381FC71E23A}"/>
              </a:ext>
            </a:extLst>
          </p:cNvPr>
          <p:cNvGrpSpPr/>
          <p:nvPr/>
        </p:nvGrpSpPr>
        <p:grpSpPr>
          <a:xfrm>
            <a:off x="474664" y="2540801"/>
            <a:ext cx="292608" cy="292608"/>
            <a:chOff x="548640" y="2916936"/>
            <a:chExt cx="292608" cy="292608"/>
          </a:xfrm>
        </p:grpSpPr>
        <p:sp>
          <p:nvSpPr>
            <p:cNvPr id="17" name="Shape 15"/>
            <p:cNvSpPr/>
            <p:nvPr/>
          </p:nvSpPr>
          <p:spPr>
            <a:xfrm>
              <a:off x="548640" y="2916936"/>
              <a:ext cx="292608" cy="292608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 16"/>
            <p:cNvSpPr/>
            <p:nvPr/>
          </p:nvSpPr>
          <p:spPr>
            <a:xfrm>
              <a:off x="548640" y="291693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888698" y="2311619"/>
            <a:ext cx="5628091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tetap 1 detik  —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model tidak berubah — tetap 16.000 sample (4 slice × 4.000 sample) per inferensi.</a:t>
            </a:r>
            <a:endParaRPr lang="en-US" sz="125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DD10261-B3BE-A2D4-2FC9-CC396EEC423A}"/>
              </a:ext>
            </a:extLst>
          </p:cNvPr>
          <p:cNvGrpSpPr/>
          <p:nvPr/>
        </p:nvGrpSpPr>
        <p:grpSpPr>
          <a:xfrm>
            <a:off x="457200" y="3130092"/>
            <a:ext cx="292608" cy="292608"/>
            <a:chOff x="548640" y="3630168"/>
            <a:chExt cx="292608" cy="292608"/>
          </a:xfrm>
        </p:grpSpPr>
        <p:sp>
          <p:nvSpPr>
            <p:cNvPr id="20" name="Shape 18"/>
            <p:cNvSpPr/>
            <p:nvPr/>
          </p:nvSpPr>
          <p:spPr>
            <a:xfrm>
              <a:off x="548640" y="3630168"/>
              <a:ext cx="292608" cy="292608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 19"/>
            <p:cNvSpPr/>
            <p:nvPr/>
          </p:nvSpPr>
          <p:spPr>
            <a:xfrm>
              <a:off x="548640" y="3630168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859866" y="2919780"/>
            <a:ext cx="565692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Diproses per-slice, bukan tunggu penuh  —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slice baru (0,25 detik) langsung memicu inferensi, tidak menunggu 1 detik penuh terkumpul.</a:t>
            </a:r>
            <a:endParaRPr lang="en-US" sz="12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71D17DE-A44C-BF3F-3124-323A872645EA}"/>
              </a:ext>
            </a:extLst>
          </p:cNvPr>
          <p:cNvGrpSpPr/>
          <p:nvPr/>
        </p:nvGrpSpPr>
        <p:grpSpPr>
          <a:xfrm>
            <a:off x="474664" y="3726061"/>
            <a:ext cx="292608" cy="292608"/>
            <a:chOff x="548640" y="4343400"/>
            <a:chExt cx="292608" cy="292608"/>
          </a:xfrm>
        </p:grpSpPr>
        <p:sp>
          <p:nvSpPr>
            <p:cNvPr id="23" name="Shape 21"/>
            <p:cNvSpPr/>
            <p:nvPr/>
          </p:nvSpPr>
          <p:spPr>
            <a:xfrm>
              <a:off x="548640" y="4343400"/>
              <a:ext cx="292608" cy="292608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 22"/>
            <p:cNvSpPr/>
            <p:nvPr/>
          </p:nvSpPr>
          <p:spPr>
            <a:xfrm>
              <a:off x="548640" y="4343400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2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888697" y="3512619"/>
            <a:ext cx="5628091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kelola FIFO/window secara internal  —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run_classifier_continuous() menyimpan histori window: buang bagian tertua, tambah slice terbaru.</a:t>
            </a:r>
            <a:endParaRPr lang="en-US" sz="12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3192A2-4552-A28E-FDBD-6D44C05A4072}"/>
              </a:ext>
            </a:extLst>
          </p:cNvPr>
          <p:cNvGrpSpPr/>
          <p:nvPr/>
        </p:nvGrpSpPr>
        <p:grpSpPr>
          <a:xfrm>
            <a:off x="457200" y="4370584"/>
            <a:ext cx="292608" cy="292608"/>
            <a:chOff x="548640" y="5056632"/>
            <a:chExt cx="292608" cy="292608"/>
          </a:xfrm>
        </p:grpSpPr>
        <p:sp>
          <p:nvSpPr>
            <p:cNvPr id="26" name="Shape 24"/>
            <p:cNvSpPr/>
            <p:nvPr/>
          </p:nvSpPr>
          <p:spPr>
            <a:xfrm>
              <a:off x="548640" y="5056632"/>
              <a:ext cx="292608" cy="292608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 25"/>
            <p:cNvSpPr/>
            <p:nvPr/>
          </p:nvSpPr>
          <p:spPr>
            <a:xfrm>
              <a:off x="548640" y="5056632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2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888698" y="4160689"/>
            <a:ext cx="562809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75% antar inferensi  —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4× ukuran slice → hasil klasifikasi ter-update tiap 250 ms, bukan tiap 1 detik.</a:t>
            </a:r>
            <a:endParaRPr lang="en-US" sz="12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226CA4-A2F2-7922-0564-8843B33649D9}"/>
              </a:ext>
            </a:extLst>
          </p:cNvPr>
          <p:cNvGrpSpPr/>
          <p:nvPr/>
        </p:nvGrpSpPr>
        <p:grpSpPr>
          <a:xfrm>
            <a:off x="474664" y="5015107"/>
            <a:ext cx="292608" cy="292608"/>
            <a:chOff x="548640" y="5769864"/>
            <a:chExt cx="292608" cy="292608"/>
          </a:xfrm>
        </p:grpSpPr>
        <p:sp>
          <p:nvSpPr>
            <p:cNvPr id="29" name="Shape 27"/>
            <p:cNvSpPr/>
            <p:nvPr/>
          </p:nvSpPr>
          <p:spPr>
            <a:xfrm>
              <a:off x="548640" y="5769864"/>
              <a:ext cx="292608" cy="292608"/>
            </a:xfrm>
            <a:prstGeom prst="ellipse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48640" y="57698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2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888697" y="4784799"/>
            <a:ext cx="5628091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Filter (MAF)  —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Meratakan confidence antar slice berurutan, mengurangi risiko false-positive dari 1 slice yang kebetulan mirip suatu label.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09E78B-BEBE-87F3-5EE1-FE3369367A89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A757FE-CC8D-37EA-3133-82D98A67DF94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6" name="Picture 35" descr="The image is a bar chart displaying various intervals of time (0ms to 1750ms) with corresponding frame counts (0 to 50), illustrating the relationship between frame duration and frame number.&#10;&#10;AI-generated content may be incorrect.">
            <a:extLst>
              <a:ext uri="{FF2B5EF4-FFF2-40B4-BE49-F238E27FC236}">
                <a16:creationId xmlns:a16="http://schemas.microsoft.com/office/drawing/2014/main" id="{5AA10E10-B2C3-6689-C695-B993A73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139" y="2494669"/>
            <a:ext cx="4776104" cy="2834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01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155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Arsitektur Runtime: While-Loop → ThreadX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9091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09160" cy="400110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While-Loop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731830"/>
            <a:ext cx="4434840" cy="769441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logika jalan berurutan dalam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mengakomodasi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rendering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TouchGFX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bersamaan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scalable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8891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347199"/>
            <a:ext cx="4709160" cy="400110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ThreadX (RTOS)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643812"/>
            <a:ext cx="4434840" cy="1000274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task &amp; rendering TouchGFX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</a:t>
            </a:r>
            <a:endParaRPr lang="en-US" sz="125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semaphore (callback DMA → thread)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naik (task, memory pool, stack sizing),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justru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445EB3-52DD-D401-DE20-BFF99E98420C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9A8D27-0A69-2E20-9146-25BA56973E80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85F4900-5619-F6D9-8EAB-EB652FE66199}"/>
              </a:ext>
            </a:extLst>
          </p:cNvPr>
          <p:cNvCxnSpPr/>
          <p:nvPr/>
        </p:nvCxnSpPr>
        <p:spPr>
          <a:xfrm>
            <a:off x="822960" y="2255520"/>
            <a:ext cx="400304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49CAB0-C58F-17C7-D772-3BED4706195E}"/>
              </a:ext>
            </a:extLst>
          </p:cNvPr>
          <p:cNvCxnSpPr/>
          <p:nvPr/>
        </p:nvCxnSpPr>
        <p:spPr>
          <a:xfrm>
            <a:off x="822960" y="4257040"/>
            <a:ext cx="400304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1155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Kondisi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Saat Ini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445EB3-52DD-D401-DE20-BFF99E98420C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9A8D27-0A69-2E20-9146-25BA56973E80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AC0DE-4E7D-F42D-C9D4-8E5B2EBD65E2}"/>
              </a:ext>
            </a:extLst>
          </p:cNvPr>
          <p:cNvSpPr txBox="1"/>
          <p:nvPr/>
        </p:nvSpPr>
        <p:spPr>
          <a:xfrm>
            <a:off x="457200" y="1687756"/>
            <a:ext cx="61041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KWS real-time </a:t>
            </a:r>
            <a:r>
              <a:rPr lang="en-ID" dirty="0" err="1"/>
              <a:t>stabil</a:t>
            </a:r>
            <a:r>
              <a:rPr lang="en-ID" dirty="0"/>
              <a:t> (continuous mode + </a:t>
            </a:r>
            <a:r>
              <a:rPr lang="en-ID" dirty="0" err="1"/>
              <a:t>ThreadX</a:t>
            </a:r>
            <a:r>
              <a:rPr lang="en-ID" dirty="0"/>
              <a:t> RTOS) 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Output </a:t>
            </a:r>
            <a:r>
              <a:rPr lang="en-ID" dirty="0" err="1"/>
              <a:t>tervalidasi</a:t>
            </a:r>
            <a:r>
              <a:rPr lang="en-ID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LED Merah : Label No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LED Hijau : Label Yes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Tampilan</a:t>
            </a:r>
            <a:r>
              <a:rPr lang="en-ID" dirty="0"/>
              <a:t> confidence di </a:t>
            </a:r>
            <a:r>
              <a:rPr lang="en-ID" dirty="0" err="1"/>
              <a:t>layar</a:t>
            </a:r>
            <a:r>
              <a:rPr lang="en-ID" dirty="0"/>
              <a:t> </a:t>
            </a:r>
            <a:r>
              <a:rPr lang="en-ID" dirty="0" err="1"/>
              <a:t>TouchGFX</a:t>
            </a:r>
            <a:endParaRPr lang="en-ID" dirty="0"/>
          </a:p>
        </p:txBody>
      </p:sp>
      <p:pic>
        <p:nvPicPr>
          <p:cNvPr id="10" name="Picture 9" descr="The image shows a circuit board with various components, including a Polymeron label, and a series of electronic readouts displaying operational status and noise levels.&#10;&#10;AI-generated content may be incorrect.">
            <a:extLst>
              <a:ext uri="{FF2B5EF4-FFF2-40B4-BE49-F238E27FC236}">
                <a16:creationId xmlns:a16="http://schemas.microsoft.com/office/drawing/2014/main" id="{617AEC5A-5003-0715-08C7-28D6A5E4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41" b="11327"/>
          <a:stretch>
            <a:fillRect/>
          </a:stretch>
        </p:blipFill>
        <p:spPr>
          <a:xfrm>
            <a:off x="7003915" y="1687756"/>
            <a:ext cx="3710447" cy="3731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23375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2544"/>
            <a:ext cx="4264606" cy="1259024"/>
          </a:xfrm>
          <a:prstGeom prst="roundRect">
            <a:avLst>
              <a:gd name="adj" fmla="val 2778"/>
            </a:avLst>
          </a:prstGeom>
          <a:solidFill>
            <a:srgbClr val="F1F6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4264606" cy="49545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6" name="Text 4"/>
          <p:cNvSpPr/>
          <p:nvPr/>
        </p:nvSpPr>
        <p:spPr>
          <a:xfrm>
            <a:off x="677045" y="1804369"/>
            <a:ext cx="3742555" cy="246221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DSP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560" y="2144155"/>
            <a:ext cx="4264606" cy="338554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CMSIS-DSP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0560" y="2478396"/>
            <a:ext cx="4264606" cy="253916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arm_rfft_fast_f32()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0560" y="2705783"/>
            <a:ext cx="4264606" cy="495457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Mengakselerasi operasi FFT — titik komputasi terberat pada tahap DSP, memanfaatkan instruksi SIMD Cortex-M33.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58114"/>
            <a:ext cx="4264606" cy="1572908"/>
          </a:xfrm>
          <a:prstGeom prst="roundRect">
            <a:avLst>
              <a:gd name="adj" fmla="val 2778"/>
            </a:avLst>
          </a:prstGeom>
          <a:solidFill>
            <a:srgbClr val="F1F6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548640" y="3390307"/>
            <a:ext cx="4264606" cy="559901"/>
          </a:xfrm>
          <a:prstGeom prst="rect">
            <a:avLst/>
          </a:prstGeom>
          <a:solidFill>
            <a:srgbClr val="562E2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670560" y="3525016"/>
            <a:ext cx="3425190" cy="230832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NEURAL NETWORK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0560" y="4022557"/>
            <a:ext cx="4709160" cy="307777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CMSIS-NN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7045" y="4338240"/>
            <a:ext cx="4709160" cy="246221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arm_convolve_wrapper_s8()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0560" y="4588409"/>
            <a:ext cx="4709160" cy="476284"/>
          </a:xfrm>
          <a:prstGeom prst="rect">
            <a:avLst/>
          </a:prstGeom>
          <a:noFill/>
          <a:ln/>
        </p:spPr>
        <p:txBody>
          <a:bodyPr wrap="square" rtlCol="0" anchor="t" anchorCtr="0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Mengakselerasi operasi Conv2D — titik komputasi terberat pada tahap Neural Network, khusus data INT8.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20" name="Chart 0">
            <a:extLst>
              <a:ext uri="{FF2B5EF4-FFF2-40B4-BE49-F238E27FC236}">
                <a16:creationId xmlns:a16="http://schemas.microsoft.com/office/drawing/2014/main" id="{90696D4B-A012-C83B-4117-3AA0EE4BAD27}"/>
              </a:ext>
            </a:extLst>
          </p:cNvPr>
          <p:cNvGraphicFramePr/>
          <p:nvPr/>
        </p:nvGraphicFramePr>
        <p:xfrm>
          <a:off x="4951703" y="1516223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454D757-2D2E-C9D2-2283-05EB60972FDD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A89C42-DB7C-581A-C7C9-AF13D8703083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38D4-3747-227F-9C06-0F71BCAD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3">
            <a:extLst>
              <a:ext uri="{FF2B5EF4-FFF2-40B4-BE49-F238E27FC236}">
                <a16:creationId xmlns:a16="http://schemas.microsoft.com/office/drawing/2014/main" id="{148805F1-E80E-1F72-C555-B6A20CE66B43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426C945-399F-67EF-F716-F25736FBEA6E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CD22D-3437-D46A-9431-7E270A1BC844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D67E45-6D9D-69CB-1BAB-30ECC9969490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The image shows a detailed breakdown of a speech processing pipeline, displaying various processing stages and their respective contributions to the total number of cycles, along with their time metrics and a comparison to a baseline.&#10;&#10;AI-generated content may be incorrect.">
            <a:extLst>
              <a:ext uri="{FF2B5EF4-FFF2-40B4-BE49-F238E27FC236}">
                <a16:creationId xmlns:a16="http://schemas.microsoft.com/office/drawing/2014/main" id="{AAADD1E2-D3BA-E2B7-FDED-65207BAA5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7747"/>
            <a:ext cx="6729738" cy="2586250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CF82A5AE-0CC5-2091-20C8-2813C670DA3D}"/>
              </a:ext>
            </a:extLst>
          </p:cNvPr>
          <p:cNvSpPr/>
          <p:nvPr/>
        </p:nvSpPr>
        <p:spPr>
          <a:xfrm>
            <a:off x="457200" y="4363997"/>
            <a:ext cx="6867728" cy="960120"/>
          </a:xfrm>
          <a:prstGeom prst="roundRect">
            <a:avLst>
              <a:gd name="adj" fmla="val 4762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C673A5B-F105-E9F5-4989-BDBCFA1B9274}"/>
              </a:ext>
            </a:extLst>
          </p:cNvPr>
          <p:cNvSpPr/>
          <p:nvPr/>
        </p:nvSpPr>
        <p:spPr>
          <a:xfrm>
            <a:off x="605887" y="4546877"/>
            <a:ext cx="6581051" cy="469359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CMVN mendominasi 62,7% dari total waktu inferensi, sementara seluruh tahap Neural Network (conv + pool + fc + softmax) hanya menyumbang 5,1%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47895A6-BA6F-6E49-0D22-D4E4C4D92E93}"/>
              </a:ext>
            </a:extLst>
          </p:cNvPr>
          <p:cNvSpPr/>
          <p:nvPr/>
        </p:nvSpPr>
        <p:spPr>
          <a:xfrm>
            <a:off x="9536527" y="4363997"/>
            <a:ext cx="1253393" cy="304314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585817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4495"/>
          </a:xfrm>
          <a:prstGeom prst="rect">
            <a:avLst/>
          </a:prstGeom>
          <a:solidFill>
            <a:srgbClr val="0B304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304495"/>
            <a:ext cx="12191695" cy="304495"/>
          </a:xfrm>
          <a:prstGeom prst="rect">
            <a:avLst/>
          </a:prstGeom>
          <a:solidFill>
            <a:srgbClr val="562E2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70255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EVALUASI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7143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 Evaluasi Batas Kapasitas M33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349240" cy="2331720"/>
          </a:xfrm>
          <a:prstGeom prst="rect">
            <a:avLst/>
          </a:prstGeom>
          <a:solidFill>
            <a:srgbClr val="F1F6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349240" cy="457200"/>
          </a:xfrm>
          <a:prstGeom prst="rect">
            <a:avLst/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804672" y="2624328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191256"/>
            <a:ext cx="4837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Kemampuan Hardware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3557016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5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Capability Limit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388620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Dievaluasi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dengan men-sweep parameter model (lebar channel, jumlah layer, ukuran window/slice) sambil mengukur beban siklus tiap tahap, lalu diekstrapolasi menjadi formula MAC yang transferable ke implementasi CNN+MFCC lain di Cortex-M33.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624328"/>
            <a:ext cx="5349240" cy="2331720"/>
          </a:xfrm>
          <a:prstGeom prst="rect">
            <a:avLst/>
          </a:prstGeom>
          <a:solidFill>
            <a:srgbClr val="F1F6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263640" y="2624328"/>
            <a:ext cx="5349240" cy="457200"/>
          </a:xfrm>
          <a:prstGeom prst="rect">
            <a:avLst/>
          </a:prstGeom>
          <a:solidFill>
            <a:srgbClr val="562E2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519672" y="2624328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9672" y="3191256"/>
            <a:ext cx="4837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Akurasi Vocabulary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9672" y="3557016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5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Vocabulary-Accuracy Ceiling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9672" y="388620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arsitektur model — tidak transferable </a:t>
            </a:r>
            <a:r>
              <a:rPr lang="en-US" sz="115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NN lain. Diuji secara empiris dengan menambah jumlah kelas/vocabulary pada dataset riil yang sedang direkam, dibatasi pada keluarga model CNN + MFCC-13 yang dipakai proyek ini.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4495"/>
          </a:xfrm>
          <a:prstGeom prst="rect">
            <a:avLst/>
          </a:prstGeom>
          <a:solidFill>
            <a:srgbClr val="0B304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304495"/>
            <a:ext cx="12191695" cy="304495"/>
          </a:xfrm>
          <a:prstGeom prst="rect">
            <a:avLst/>
          </a:prstGeom>
          <a:solidFill>
            <a:srgbClr val="562E2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2329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IMPLEMENTASI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0109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Cascade Dual-Model VUI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F1F6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804672" y="1691640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ALWAYS-ON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240280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Wake Detection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260604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 detik, slice 250 ms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kelas: noise / unknown / wake word / stop / batal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terus-menerus </a:t>
            </a:r>
            <a:r>
              <a:rPr lang="en-US" sz="115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 deteksi utama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1965960"/>
          </a:xfrm>
          <a:prstGeom prst="rect">
            <a:avLst/>
          </a:prstGeom>
          <a:solidFill>
            <a:srgbClr val="F1F6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57200"/>
          </a:xfrm>
          <a:prstGeom prst="rect">
            <a:avLst/>
          </a:prstGeom>
          <a:solidFill>
            <a:srgbClr val="562E2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519672" y="1691640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ONE-SHOT CONFIRMATION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2240280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Post-Wake-Word Command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19672" y="260604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setelah wake-word terdeteksi Model A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2,5 detik, one-shot inference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 err="1"/>
              <a:t>Berisi</a:t>
            </a:r>
            <a:r>
              <a:rPr lang="en-US" sz="1150" dirty="0"/>
              <a:t> </a:t>
            </a:r>
            <a:r>
              <a:rPr lang="en-US" sz="1150" dirty="0" err="1"/>
              <a:t>frasa</a:t>
            </a:r>
            <a:r>
              <a:rPr lang="en-US" sz="1150" dirty="0"/>
              <a:t> </a:t>
            </a:r>
            <a:r>
              <a:rPr lang="en-US" sz="1150" dirty="0" err="1"/>
              <a:t>perintah</a:t>
            </a:r>
            <a:r>
              <a:rPr lang="en-US" sz="1150" dirty="0"/>
              <a:t> </a:t>
            </a:r>
            <a:r>
              <a:rPr lang="en-US" sz="1150" dirty="0" err="1"/>
              <a:t>usecase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8872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84632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1828800" y="4846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0" y="5143500"/>
            <a:ext cx="1234440" cy="0"/>
          </a:xfrm>
          <a:prstGeom prst="line">
            <a:avLst/>
          </a:prstGeom>
          <a:noFill/>
          <a:ln w="19050">
            <a:solidFill>
              <a:srgbClr val="16193F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892040" y="484632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892040" y="4846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5143500"/>
            <a:ext cx="1234440" cy="0"/>
          </a:xfrm>
          <a:prstGeom prst="line">
            <a:avLst/>
          </a:prstGeom>
          <a:noFill/>
          <a:ln w="19050">
            <a:solidFill>
              <a:srgbClr val="16193F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7955280" y="484632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7955280" y="4846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8030" y="4233164"/>
            <a:ext cx="232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/ timeout / batal → kembali ke IDLE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87984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Quick-check:  </a:t>
            </a: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tetap berjalan paralel selama state LISTENING.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1148163-032A-AE7E-C9A4-C087BB5B5440}"/>
              </a:ext>
            </a:extLst>
          </p:cNvPr>
          <p:cNvCxnSpPr>
            <a:cxnSpLocks/>
            <a:stCxn id="22" idx="0"/>
            <a:endCxn id="20" idx="0"/>
          </p:cNvCxnSpPr>
          <p:nvPr/>
        </p:nvCxnSpPr>
        <p:spPr>
          <a:xfrm rot="16200000" flipV="1">
            <a:off x="4274820" y="3314700"/>
            <a:ext cx="12700" cy="3063240"/>
          </a:xfrm>
          <a:prstGeom prst="bentConnector3">
            <a:avLst>
              <a:gd name="adj1" fmla="val 1800000"/>
            </a:avLst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E82448D-33C8-2917-AC2B-F75835066D02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7226935" y="3203575"/>
            <a:ext cx="228600" cy="3056890"/>
          </a:xfrm>
          <a:prstGeom prst="bentConnector2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8755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087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Demo Video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63040" y="21285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Rekaman sistem end-to-end, dengan aksi dispenser disimulasikan lewat display.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436980"/>
            <a:ext cx="640080" cy="64008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731520" y="3436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342319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Kajian Pengetahuan KWS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63040" y="36097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Dokumen arsitektur &amp; cara kerja sistem Keyword Spotting berbasis Edge AI.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897915"/>
            <a:ext cx="640080" cy="64008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31520" y="489791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5054092"/>
            <a:ext cx="435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Kajian </a:t>
            </a:r>
            <a:r>
              <a:rPr lang="en-US" sz="165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Korelasi</a:t>
            </a:r>
            <a:r>
              <a:rPr lang="en-US" sz="16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M33 Cortex dan AI </a:t>
            </a:r>
            <a:r>
              <a:rPr lang="en-US" sz="165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beserta</a:t>
            </a:r>
            <a:r>
              <a:rPr lang="en-US" sz="16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Upper limit-</a:t>
            </a:r>
            <a:r>
              <a:rPr lang="en-US" sz="165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nya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503920" y="35661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B1CBB7-AD55-24EF-7949-47A23DCEECAD}"/>
              </a:ext>
            </a:extLst>
          </p:cNvPr>
          <p:cNvSpPr/>
          <p:nvPr/>
        </p:nvSpPr>
        <p:spPr>
          <a:xfrm>
            <a:off x="0" y="-9727"/>
            <a:ext cx="12192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1CCAED-30C0-2ACA-3320-5084E15D334B}"/>
              </a:ext>
            </a:extLst>
          </p:cNvPr>
          <p:cNvSpPr/>
          <p:nvPr/>
        </p:nvSpPr>
        <p:spPr>
          <a:xfrm>
            <a:off x="0" y="310314"/>
            <a:ext cx="12192000" cy="320041"/>
          </a:xfrm>
          <a:prstGeom prst="rect">
            <a:avLst/>
          </a:prstGeom>
          <a:solidFill>
            <a:srgbClr val="562E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4495"/>
          </a:xfrm>
          <a:prstGeom prst="rect">
            <a:avLst/>
          </a:prstGeom>
          <a:solidFill>
            <a:srgbClr val="0B304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304495"/>
            <a:ext cx="12191695" cy="304495"/>
          </a:xfrm>
          <a:prstGeom prst="rect">
            <a:avLst/>
          </a:prstGeom>
          <a:solidFill>
            <a:srgbClr val="562E2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Dispenser — Progress Report KP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Selanjutnya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89280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Dataset sesuai usecase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862072"/>
            <a:ext cx="685800" cy="685800"/>
          </a:xfrm>
          <a:prstGeom prst="ellipse">
            <a:avLst/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77240" y="28620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29718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Arsitektur Cascade Dual-Model (Model A + Model B) ke Firmware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53440" y="3927348"/>
            <a:ext cx="685800" cy="685800"/>
          </a:xfrm>
          <a:prstGeom prst="ellipse">
            <a:avLst/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853440" y="39273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05000" y="4037076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Kalibrasi Parameter State Machine &amp; Lanjutkan Eksekusi Rencana Evaluasi (Parameter Sweep)</a:t>
            </a:r>
            <a:endParaRPr lang="en-US" sz="17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0CAE64D-6C8E-222C-D679-5F8AFB82A884}"/>
              </a:ext>
            </a:extLst>
          </p:cNvPr>
          <p:cNvSpPr/>
          <p:nvPr/>
        </p:nvSpPr>
        <p:spPr>
          <a:xfrm>
            <a:off x="853440" y="5102352"/>
            <a:ext cx="685800" cy="685800"/>
          </a:xfrm>
          <a:prstGeom prst="ellipse">
            <a:avLst/>
          </a:prstGeom>
          <a:solidFill>
            <a:srgbClr val="0B598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E0BA94B-E385-FFCD-11BA-1CF00450FF3A}"/>
              </a:ext>
            </a:extLst>
          </p:cNvPr>
          <p:cNvSpPr/>
          <p:nvPr/>
        </p:nvSpPr>
        <p:spPr>
          <a:xfrm>
            <a:off x="853440" y="51023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07D78E8D-BB28-1A03-C5BD-D3C0E88BC1CC}"/>
              </a:ext>
            </a:extLst>
          </p:cNvPr>
          <p:cNvSpPr/>
          <p:nvPr/>
        </p:nvSpPr>
        <p:spPr>
          <a:xfrm>
            <a:off x="1905000" y="521208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6193F"/>
                </a:solidFill>
                <a:latin typeface="Cambria" pitchFamily="34" charset="0"/>
                <a:ea typeface="Cambria" pitchFamily="34" charset="-122"/>
              </a:rPr>
              <a:t>Optimasi</a:t>
            </a:r>
            <a:r>
              <a:rPr lang="en-US" sz="17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</a:rPr>
              <a:t> CMVN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1239</Words>
  <Application>Microsoft Office PowerPoint</Application>
  <PresentationFormat>Widescreen</PresentationFormat>
  <Paragraphs>269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Salman Ahmad</dc:creator>
  <cp:lastModifiedBy>Gregory Salman Ahmad</cp:lastModifiedBy>
  <cp:revision>3</cp:revision>
  <dcterms:created xsi:type="dcterms:W3CDTF">2026-07-16T04:02:21Z</dcterms:created>
  <dcterms:modified xsi:type="dcterms:W3CDTF">2026-07-16T09:51:21Z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2026-07-16T04:02:25Z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a5ca96f4-73ed-4f6a-a072-29dee6d38b69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